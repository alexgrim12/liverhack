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[0:00–0:17] CLIC 1: aparece "Se llama Mariana." · CLIC 2: aparece su ilustración (día 6, 0 mensajes).
"Se llama Mariana. (pausa de 2 segundos)
Tiene 34 años. Lleva ocho construyendo sistemas de pagos. Y hace seis días salió de una entrevista con la mejor sensación que ha tenido en meses.
Le dijeron: 'Te avisamos en unos días.'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[0:17–0:40] CLIC 1: aparecen las dos burbujas · CLIC 2: "Nadie…" · CLIC 3: "lo vio."
"Desde entonces revisa su correo cada mañana. Cada noche. En el coche, en el semáforo.
Nada. (pausa)
Del otro lado, el hiring manager está convencido de que RH ya le contestó.
RH está convencida de que él sigue evaluando.
Nadie mintió. Nadie fue negligente.
Nadie… (baja la voz y espera 2 segundos) lo vio.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[0:40–0:52] CLIC 1: "38%" · CLIC 2: texto y los 10 candidatos (4 se van).
"Hoy, Mariana acepta otra oferta. (pausa larga)
Y en México, esto le pasa a uno de cada tres candidatos: el 38% abandona por falta de seguimiento."
(38% es "casi cuatro de cada diez"; si quieres ser exacta, dilo así.)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[0:52–0:58] CLIC 1: "Nosotros construimos lo que faltaba:" · CLIC 2: "Que alguien lo vea." + ilustración + el nombre, Liver Companion.
"Nosotros construimos lo que faltaba: que alguien lo vea. Se llama Liver Companion: que todos vean lo mismo."
(La frase "Es por eso que creamos Liver Companion, para acompañar a nuestros colaboradores…" se reserva para el CIERRE, diapositiva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[0:58–1:13] 3 clics: título + 80% · 61% · resultado.
"No es actitud: es visibilidad. El 80% de los reclutadores cree entender la vacante; el 61% de los hiring managers dice que no. Resultado: 52 días, cuando RH espera cuatro semanas."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[1:13–1:27] 2 clics: título + pantalla · Alinear, Ver y Decidir.
"Liver Companion: que todos vean lo mismo. Alinear: el BP solo valida lo que pide el hiring manager. Ver: cada etapa con dueño y semáforo. Decidir: con IA y evidencia. Vamos con Mariana."
(Si preguntan: es un prototipo funcional; Calendar/Meet reales son el siguiente paso.)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[1:27–4:05] DEMO EN VIVO (2:38). 1 clic: título y los 4 pasos (5 s) y cambia a la app. Ten el video de respaldo listo.
1) 1:32–2:02 ALINEAR — HM: Nueva requisición → Enviar al BP; cambia a HRBP: Por validar → Sofía → Aprobar. "El BP solo valida; una sola versión, validada antes de buscar."
2) 2:02–2:17 VER — HRBP: Inicio (Logística en rojo); Cliente interno: mismo semáforo. "El retraso deja de ser invisible."
3) 2:17–3:00 DECIDIR CON IA — Reclutamiento: Backend Developer Sr → Analizar compatibilidad → medusa + 2 ideas de contexto → Analizar (13 s) → Mariana #1 → detalle. "La IA recomienda; decide el hiring manager."
4) 3:00–3:32 EVIDENCIA — HM: Evaluar entrevista → 3 de 3 a favor → transcripción → análisis → justificación → Aprobar como finalista.
5) 3:32–4:05 OFERTA — HM: Pasar a Oferta → Candidato/a: "¡Mariana, tienes una oferta!" → Aceptar oferta. "Mariana aceptó. Esta vez, alguien lo vio."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[4:05–4:18] 2 clics: título + Velocidad · Transparencia y Alineación.
"Tres metas para el piloto: acercar el ciclo a las cuatro semanas que RH espera, ningún candidato más de cuatro días sin respuesta, y cien por ciento de las vacantes con requisición validada."
(Son METAS, no resultados. No las presentes como logradas.)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[4:18–4:29] 2 clics: título + el problema (Mariana, 38 %, 52 días) · la solución (Alinear, Ver, Decidir). Resumen de todo lo que pasó.
"En resumen: Mariana esperó seis días porque nadie lo veía. Ahora el BP solo valida, cada etapa tiene semáforo y cada decisión, evidencia."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[4:29–4:40] TU FRASE DE CIERRE. 2 clics: "Por eso creamos Liver Companion" · el resto de la frase + la foto de Mariana feliz.
"Por eso creamos Liver Companion, para acompañar a nuestros colaboradores en todo lugar, todos los días, toda la vida."
(Pausa. Mira a los jueces. Después: "Gracias".)
Quedan ~10 s de colchón para aplausos o una pregunta.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image" Target="../media/image-3-11.png"/><Relationship Id="rId12" Type="http://schemas.openxmlformats.org/officeDocument/2006/relationships/slideLayout" Target="../slideLayouts/slideLayout1.xml"/><Relationship Id="rId1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e|1"/>
          <p:cNvSpPr txBox="1"/>
          <p:nvPr/>
        </p:nvSpPr>
        <p:spPr>
          <a:xfrm>
            <a:off x="822960" y="1828800"/>
            <a:ext cx="5486400" cy="822960"/>
          </a:xfrm>
          <a:prstGeom prst="rect">
            <a:avLst/>
          </a:prstGeom>
          <a:noFill/>
          <a:ln/>
        </p:spPr>
        <p:txBody>
          <a:bodyPr wrap="square" lIns="0" tIns="0" rIns="0" bIns="0" rtlCol="0" anchor="t"/>
          <a:lstStyle/>
          <a:p>
            <a:pPr indent="0" marL="0">
              <a:buNone/>
            </a:pPr>
            <a:r>
              <a:rPr lang="en-US" sz="4400" dirty="0">
                <a:solidFill>
                  <a:srgbClr val="000000"/>
                </a:solidFill>
                <a:latin typeface="Arial" pitchFamily="34" charset="0"/>
                <a:ea typeface="Arial" pitchFamily="34" charset="-122"/>
                <a:cs typeface="Arial" pitchFamily="34" charset="-120"/>
              </a:rPr>
              <a:t>Se llama</a:t>
            </a:r>
            <a:endParaRPr lang="en-US" sz="4400" dirty="0"/>
          </a:p>
        </p:txBody>
      </p:sp>
      <p:sp>
        <p:nvSpPr>
          <p:cNvPr id="3" name="mar|2"/>
          <p:cNvSpPr txBox="1"/>
          <p:nvPr/>
        </p:nvSpPr>
        <p:spPr>
          <a:xfrm>
            <a:off x="822960" y="2514600"/>
            <a:ext cx="6035040" cy="2103120"/>
          </a:xfrm>
          <a:prstGeom prst="rect">
            <a:avLst/>
          </a:prstGeom>
          <a:noFill/>
          <a:ln/>
        </p:spPr>
        <p:txBody>
          <a:bodyPr wrap="square" lIns="0" tIns="0" rIns="0" bIns="0" rtlCol="0" anchor="t"/>
          <a:lstStyle/>
          <a:p>
            <a:pPr indent="0" marL="0">
              <a:buNone/>
            </a:pPr>
            <a:r>
              <a:rPr lang="en-US" sz="10400" b="1" dirty="0">
                <a:solidFill>
                  <a:srgbClr val="E10098"/>
                </a:solidFill>
                <a:latin typeface="Arial" pitchFamily="34" charset="0"/>
                <a:ea typeface="Arial" pitchFamily="34" charset="-122"/>
                <a:cs typeface="Arial" pitchFamily="34" charset="-120"/>
              </a:rPr>
              <a:t>Mariana.</a:t>
            </a:r>
            <a:endParaRPr lang="en-US" sz="10400" dirty="0"/>
          </a:p>
        </p:txBody>
      </p:sp>
      <p:sp>
        <p:nvSpPr>
          <p:cNvPr id="4" name="cap1|3"/>
          <p:cNvSpPr txBox="1"/>
          <p:nvPr/>
        </p:nvSpPr>
        <p:spPr>
          <a:xfrm>
            <a:off x="822960" y="6126480"/>
            <a:ext cx="3657600" cy="274320"/>
          </a:xfrm>
          <a:prstGeom prst="rect">
            <a:avLst/>
          </a:prstGeom>
          <a:noFill/>
          <a:ln/>
        </p:spPr>
        <p:txBody>
          <a:bodyPr wrap="square" lIns="0" tIns="0" rIns="0" bIns="0" rtlCol="0" anchor="t"/>
          <a:lstStyle/>
          <a:p>
            <a:pPr indent="0" marL="0">
              <a:buNone/>
            </a:pPr>
            <a:r>
              <a:rPr lang="en-US" sz="1200" dirty="0">
                <a:solidFill>
                  <a:srgbClr val="8C8C8C"/>
                </a:solidFill>
                <a:latin typeface="Arial" pitchFamily="34" charset="0"/>
                <a:ea typeface="Arial" pitchFamily="34" charset="-122"/>
                <a:cs typeface="Arial" pitchFamily="34" charset="-120"/>
              </a:rPr>
              <a:t>Caso ilustrativo</a:t>
            </a:r>
            <a:endParaRPr lang="en-US" sz="1200" dirty="0"/>
          </a:p>
        </p:txBody>
      </p:sp>
      <p:pic>
        <p:nvPicPr>
          <p:cNvPr id="5" name="img1|4" descr="Manos con un celular y un reloj: día 6, 0 mensajes nuevos">    </p:cNvPr>
          <p:cNvPicPr>
            <a:picLocks noChangeAspect="1"/>
          </p:cNvPicPr>
          <p:nvPr/>
        </p:nvPicPr>
        <p:blipFill>
          <a:blip r:embed="rId1"/>
          <a:stretch>
            <a:fillRect/>
          </a:stretch>
        </p:blipFill>
        <p:spPr>
          <a:xfrm>
            <a:off x="6675120" y="685800"/>
            <a:ext cx="5486400" cy="5486400"/>
          </a:xfrm>
          <a:prstGeom prst="rect">
            <a:avLst/>
          </a:prstGeom>
        </p:spPr>
      </p:pic>
      <p:pic>
        <p:nvPicPr>
          <p:cNvPr id="6" name="logo|5" descr="Logo de Liverpool">    </p:cNvPr>
          <p:cNvPicPr>
            <a:picLocks noChangeAspect="1"/>
          </p:cNvPicPr>
          <p:nvPr/>
        </p:nvPicPr>
        <p:blipFill>
          <a:blip r:embed="rId2"/>
          <a:stretch>
            <a:fillRect/>
          </a:stretch>
        </p:blipFill>
        <p:spPr>
          <a:xfrm>
            <a:off x="822960" y="548640"/>
            <a:ext cx="2194560" cy="556605"/>
          </a:xfrm>
          <a:prstGeom prst="rect">
            <a:avLst/>
          </a:prstGeom>
        </p:spPr>
      </p:pic>
      <p:sp>
        <p:nvSpPr>
          <p:cNvPr id="7" name="img1|6"/>
          <p:cNvSpPr txBox="1"/>
          <p:nvPr/>
        </p:nvSpPr>
        <p:spPr>
          <a:xfrm>
            <a:off x="6675120" y="6217920"/>
            <a:ext cx="5486400" cy="228600"/>
          </a:xfrm>
          <a:prstGeom prst="rect">
            <a:avLst/>
          </a:prstGeom>
          <a:noFill/>
          <a:ln/>
        </p:spPr>
        <p:txBody>
          <a:bodyPr wrap="square" lIns="0" tIns="0" rIns="0" bIns="0" rtlCol="0" anchor="t"/>
          <a:lstStyle/>
          <a:p>
            <a:pPr algn="r" indent="0" marL="0">
              <a:buNone/>
            </a:pPr>
            <a:r>
              <a:rPr lang="en-US" sz="900" dirty="0">
                <a:solidFill>
                  <a:srgbClr val="8C8C8C"/>
                </a:solidFill>
                <a:latin typeface="Arial" pitchFamily="34" charset="0"/>
                <a:ea typeface="Arial" pitchFamily="34" charset="-122"/>
                <a:cs typeface="Arial" pitchFamily="34" charset="-120"/>
              </a:rPr>
              <a:t>Foto: Paul Hanaoka / Unsplash</a:t>
            </a:r>
            <a:endParaRPr lang="en-US" sz="900" dirty="0"/>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grpId="0" fill="hold" nodeType="click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175"/>
                                        <p:tgtEl>
                                          <p:spTgt spid="2"/>
                                        </p:tgtEl>
                                      </p:cBhvr>
                                    </p:animEffect>
                                  </p:childTnLst>
                                </p:cTn>
                              </p:par>
                              <p:par>
                                <p:cTn id="6" presetID="22" presetClass="entr" presetSubtype="8" grpId="0" fill="hold" nodeType="withEffect">
                                  <p:stCondLst>
                                    <p:cond delay="60"/>
                                  </p:stCondLst>
                                  <p:childTnLst>
                                    <p:set>
                                      <p:cBhvr>
                                        <p:cTn id="7" dur="1" fill="hold">
                                          <p:stCondLst>
                                            <p:cond delay="0"/>
                                          </p:stCondLst>
                                        </p:cTn>
                                        <p:tgtEl>
                                          <p:spTgt spid="3"/>
                                        </p:tgtEl>
                                        <p:attrNameLst>
                                          <p:attrName>style.visibility</p:attrName>
                                        </p:attrNameLst>
                                      </p:cBhvr>
                                      <p:to>
                                        <p:strVal val="visible"/>
                                      </p:to>
                                    </p:set>
                                    <p:animEffect transition="in" filter="wipe(left)">
                                      <p:cBhvr>
                                        <p:cTn id="8" dur="180"/>
                                        <p:tgtEl>
                                          <p:spTgt spid="3"/>
                                        </p:tgtEl>
                                      </p:cBhvr>
                                    </p:animEffect>
                                  </p:childTnLst>
                                </p:cTn>
                              </p:par>
                              <p:par>
                                <p:cTn id="9" presetID="10" presetClass="entr" presetSubtype="0" grpId="0" fill="hold" nodeType="withEffect">
                                  <p:stCondLst>
                                    <p:cond delay="108"/>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125"/>
                                        <p:tgtEl>
                                          <p:spTgt spid="4"/>
                                        </p:tgtEl>
                                      </p:cBhvr>
                                    </p:animEffect>
                                  </p:childTnLst>
                                </p:cTn>
                              </p:par>
                            </p:childTnLst>
                          </p:cTn>
                        </p:par>
                      </p:childTnLst>
                    </p:cTn>
                  </p:par>
                  <p:par>
                    <p:cTn id="20" fill="hold">
                      <p:stCondLst>
                        <p:cond delay="indefinite"/>
                      </p:stCondLst>
                      <p:childTnLst>
                        <p:par>
                          <p:cTn id="21"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180"/>
                                        <p:tgtEl>
                                          <p:spTgt spid="5"/>
                                        </p:tgtEl>
                                      </p:cBhvr>
                                    </p:animEffect>
                                  </p:childTnLst>
                                </p:cTn>
                              </p:par>
                              <p:par>
                                <p:cTn id="17" presetID="10" presetClass="entr" presetSubtype="0" grpId="0" fill="hold"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18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7" grpId="0"/>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g2|7" descr="El hiring manager cree que RH ya contestó; RH cree que él sigue evaluando; nadie ve a Mariana">    </p:cNvPr>
          <p:cNvPicPr>
            <a:picLocks noChangeAspect="1"/>
          </p:cNvPicPr>
          <p:nvPr/>
        </p:nvPicPr>
        <p:blipFill>
          <a:blip r:embed="rId1"/>
          <a:stretch>
            <a:fillRect/>
          </a:stretch>
        </p:blipFill>
        <p:spPr>
          <a:xfrm>
            <a:off x="640080" y="502920"/>
            <a:ext cx="10881360" cy="3808476"/>
          </a:xfrm>
          <a:prstGeom prst="rect">
            <a:avLst/>
          </a:prstGeom>
        </p:spPr>
      </p:pic>
      <p:sp>
        <p:nvSpPr>
          <p:cNvPr id="3" name="n1|8"/>
          <p:cNvSpPr txBox="1"/>
          <p:nvPr/>
        </p:nvSpPr>
        <p:spPr>
          <a:xfrm>
            <a:off x="822960" y="4526280"/>
            <a:ext cx="4572000" cy="1463040"/>
          </a:xfrm>
          <a:prstGeom prst="rect">
            <a:avLst/>
          </a:prstGeom>
          <a:noFill/>
          <a:ln/>
        </p:spPr>
        <p:txBody>
          <a:bodyPr wrap="square" lIns="0" tIns="0" rIns="0" bIns="0" rtlCol="0" anchor="t"/>
          <a:lstStyle/>
          <a:p>
            <a:pPr indent="0" marL="0">
              <a:buNone/>
            </a:pPr>
            <a:r>
              <a:rPr lang="en-US" sz="8400" b="1" dirty="0">
                <a:solidFill>
                  <a:srgbClr val="000000"/>
                </a:solidFill>
                <a:latin typeface="Arial" pitchFamily="34" charset="0"/>
                <a:ea typeface="Arial" pitchFamily="34" charset="-122"/>
                <a:cs typeface="Arial" pitchFamily="34" charset="-120"/>
              </a:rPr>
              <a:t>Nadie…</a:t>
            </a:r>
            <a:endParaRPr lang="en-US" sz="8400" dirty="0"/>
          </a:p>
        </p:txBody>
      </p:sp>
      <p:sp>
        <p:nvSpPr>
          <p:cNvPr id="4" name="n2|9"/>
          <p:cNvSpPr txBox="1"/>
          <p:nvPr/>
        </p:nvSpPr>
        <p:spPr>
          <a:xfrm>
            <a:off x="5394960" y="4526280"/>
            <a:ext cx="6035040" cy="1463040"/>
          </a:xfrm>
          <a:prstGeom prst="rect">
            <a:avLst/>
          </a:prstGeom>
          <a:noFill/>
          <a:ln/>
        </p:spPr>
        <p:txBody>
          <a:bodyPr wrap="square" lIns="0" tIns="0" rIns="0" bIns="0" rtlCol="0" anchor="t"/>
          <a:lstStyle/>
          <a:p>
            <a:pPr indent="0" marL="0">
              <a:buNone/>
            </a:pPr>
            <a:r>
              <a:rPr lang="en-US" sz="8400" b="1" dirty="0">
                <a:solidFill>
                  <a:srgbClr val="E10098"/>
                </a:solidFill>
                <a:latin typeface="Arial" pitchFamily="34" charset="0"/>
                <a:ea typeface="Arial" pitchFamily="34" charset="-122"/>
                <a:cs typeface="Arial" pitchFamily="34" charset="-120"/>
              </a:rPr>
              <a:t>lo vio.</a:t>
            </a:r>
            <a:endParaRPr lang="en-US" sz="8400" dirty="0"/>
          </a:p>
        </p:txBody>
      </p:sp>
      <p:pic>
        <p:nvPicPr>
          <p:cNvPr id="5" name="logo|10" descr="Logo de Liverpool">    </p:cNvPr>
          <p:cNvPicPr>
            <a:picLocks noChangeAspect="1"/>
          </p:cNvPicPr>
          <p:nvPr/>
        </p:nvPicPr>
        <p:blipFill>
          <a:blip r:embed="rId2"/>
          <a:stretch>
            <a:fillRect/>
          </a:stretch>
        </p:blipFill>
        <p:spPr>
          <a:xfrm>
            <a:off x="10332720" y="6263640"/>
            <a:ext cx="1371600" cy="347878"/>
          </a:xfrm>
          <a:prstGeom prst="rect">
            <a:avLst/>
          </a:prstGeom>
        </p:spPr>
      </p:pic>
    </p:spTree>
  </p:cSld>
  <p:clrMapOvr>
    <a:masterClrMapping/>
  </p:clrMapOvr>
  <p:transition spd="fast">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180"/>
                                        <p:tgtEl>
                                          <p:spTgt spid="2"/>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grpId="0" fill="hold" nodeType="click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180"/>
                                        <p:tgtEl>
                                          <p:spTgt spid="3"/>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grpId="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18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pct|11"/>
          <p:cNvSpPr txBox="1"/>
          <p:nvPr/>
        </p:nvSpPr>
        <p:spPr>
          <a:xfrm>
            <a:off x="731520" y="914400"/>
            <a:ext cx="5852160" cy="2743200"/>
          </a:xfrm>
          <a:prstGeom prst="rect">
            <a:avLst/>
          </a:prstGeom>
          <a:noFill/>
          <a:ln/>
        </p:spPr>
        <p:txBody>
          <a:bodyPr wrap="square" lIns="0" tIns="0" rIns="0" bIns="0" rtlCol="0" anchor="t"/>
          <a:lstStyle/>
          <a:p>
            <a:pPr indent="0" marL="0">
              <a:buNone/>
            </a:pPr>
            <a:r>
              <a:rPr lang="en-US" sz="19000" b="1" dirty="0">
                <a:solidFill>
                  <a:srgbClr val="E10098"/>
                </a:solidFill>
                <a:latin typeface="Arial" pitchFamily="34" charset="0"/>
                <a:ea typeface="Arial" pitchFamily="34" charset="-122"/>
                <a:cs typeface="Arial" pitchFamily="34" charset="-120"/>
              </a:rPr>
              <a:t>38%</a:t>
            </a:r>
            <a:endParaRPr lang="en-US" sz="19000" dirty="0"/>
          </a:p>
        </p:txBody>
      </p:sp>
      <p:sp>
        <p:nvSpPr>
          <p:cNvPr id="3" name="txt3|12"/>
          <p:cNvSpPr txBox="1"/>
          <p:nvPr/>
        </p:nvSpPr>
        <p:spPr>
          <a:xfrm>
            <a:off x="822960" y="3931920"/>
            <a:ext cx="5394960" cy="1645920"/>
          </a:xfrm>
          <a:prstGeom prst="rect">
            <a:avLst/>
          </a:prstGeom>
          <a:noFill/>
          <a:ln/>
        </p:spPr>
        <p:txBody>
          <a:bodyPr wrap="square" lIns="0" tIns="0" rIns="0" bIns="0" rtlCol="0" anchor="t"/>
          <a:lstStyle/>
          <a:p>
            <a:pPr indent="0" marL="0">
              <a:buNone/>
            </a:pPr>
            <a:r>
              <a:rPr lang="en-US" sz="2600" dirty="0">
                <a:solidFill>
                  <a:srgbClr val="000000"/>
                </a:solidFill>
                <a:latin typeface="Arial" pitchFamily="34" charset="0"/>
                <a:ea typeface="Arial" pitchFamily="34" charset="-122"/>
                <a:cs typeface="Arial" pitchFamily="34" charset="-120"/>
              </a:rPr>
              <a:t>de los candidatos en México abandona un proceso de selección por falta de seguimiento</a:t>
            </a:r>
            <a:endParaRPr lang="en-US" sz="2600" dirty="0"/>
          </a:p>
        </p:txBody>
      </p:sp>
      <p:sp>
        <p:nvSpPr>
          <p:cNvPr id="4" name="src3|13"/>
          <p:cNvSpPr txBox="1"/>
          <p:nvPr/>
        </p:nvSpPr>
        <p:spPr>
          <a:xfrm>
            <a:off x="822960" y="6126480"/>
            <a:ext cx="5943600" cy="274320"/>
          </a:xfrm>
          <a:prstGeom prst="rect">
            <a:avLst/>
          </a:prstGeom>
          <a:noFill/>
          <a:ln/>
        </p:spPr>
        <p:txBody>
          <a:bodyPr wrap="square" lIns="0" tIns="0" rIns="0" bIns="0" rtlCol="0" anchor="t"/>
          <a:lstStyle/>
          <a:p>
            <a:pPr indent="0" marL="0">
              <a:buNone/>
            </a:pPr>
            <a:r>
              <a:rPr lang="en-US" sz="1100" dirty="0">
                <a:solidFill>
                  <a:srgbClr val="8C8C8C"/>
                </a:solidFill>
                <a:latin typeface="Arial" pitchFamily="34" charset="0"/>
                <a:ea typeface="Arial" pitchFamily="34" charset="-122"/>
                <a:cs typeface="Arial" pitchFamily="34" charset="-120"/>
              </a:rPr>
              <a:t>Fuente: Computrabajo, Indicador del Empleo (2026)</a:t>
            </a:r>
            <a:endParaRPr lang="en-US" sz="1100" dirty="0"/>
          </a:p>
        </p:txBody>
      </p:sp>
      <p:sp>
        <p:nvSpPr>
          <p:cNvPr id="5" name="grid|14"/>
          <p:cNvSpPr/>
          <p:nvPr/>
        </p:nvSpPr>
        <p:spPr>
          <a:xfrm>
            <a:off x="7040880" y="1097280"/>
            <a:ext cx="4480560" cy="4480560"/>
          </a:xfrm>
          <a:prstGeom prst="roundRect">
            <a:avLst>
              <a:gd name="adj" fmla="val 5102"/>
            </a:avLst>
          </a:prstGeom>
          <a:solidFill>
            <a:srgbClr val="FDF0F8"/>
          </a:solidFill>
          <a:ln w="12700">
            <a:solidFill>
              <a:srgbClr val="FDF0F8"/>
            </a:solidFill>
            <a:prstDash val="solid"/>
          </a:ln>
        </p:spPr>
      </p:sp>
      <p:pic>
        <p:nvPicPr>
          <p:cNvPr id="6" name="p0|15" descr="Candidato que abandona">    </p:cNvPr>
          <p:cNvPicPr>
            <a:picLocks noChangeAspect="1"/>
          </p:cNvPicPr>
          <p:nvPr/>
        </p:nvPicPr>
        <p:blipFill>
          <a:blip r:embed="rId1"/>
          <a:stretch>
            <a:fillRect/>
          </a:stretch>
        </p:blipFill>
        <p:spPr>
          <a:xfrm>
            <a:off x="7360920" y="1600200"/>
            <a:ext cx="658368" cy="658368"/>
          </a:xfrm>
          <a:prstGeom prst="rect">
            <a:avLst/>
          </a:prstGeom>
        </p:spPr>
      </p:pic>
      <p:pic>
        <p:nvPicPr>
          <p:cNvPr id="7" name="p1|16" descr="Candidato que abandona">    </p:cNvPr>
          <p:cNvPicPr>
            <a:picLocks noChangeAspect="1"/>
          </p:cNvPicPr>
          <p:nvPr/>
        </p:nvPicPr>
        <p:blipFill>
          <a:blip r:embed="rId2"/>
          <a:stretch>
            <a:fillRect/>
          </a:stretch>
        </p:blipFill>
        <p:spPr>
          <a:xfrm>
            <a:off x="8147304" y="1600200"/>
            <a:ext cx="658368" cy="658368"/>
          </a:xfrm>
          <a:prstGeom prst="rect">
            <a:avLst/>
          </a:prstGeom>
        </p:spPr>
      </p:pic>
      <p:pic>
        <p:nvPicPr>
          <p:cNvPr id="8" name="p2|17" descr="Candidato que abandona">    </p:cNvPr>
          <p:cNvPicPr>
            <a:picLocks noChangeAspect="1"/>
          </p:cNvPicPr>
          <p:nvPr/>
        </p:nvPicPr>
        <p:blipFill>
          <a:blip r:embed="rId3"/>
          <a:stretch>
            <a:fillRect/>
          </a:stretch>
        </p:blipFill>
        <p:spPr>
          <a:xfrm>
            <a:off x="8933688" y="1600200"/>
            <a:ext cx="658368" cy="658368"/>
          </a:xfrm>
          <a:prstGeom prst="rect">
            <a:avLst/>
          </a:prstGeom>
        </p:spPr>
      </p:pic>
      <p:pic>
        <p:nvPicPr>
          <p:cNvPr id="9" name="p3|18" descr="Candidato que abandona">    </p:cNvPr>
          <p:cNvPicPr>
            <a:picLocks noChangeAspect="1"/>
          </p:cNvPicPr>
          <p:nvPr/>
        </p:nvPicPr>
        <p:blipFill>
          <a:blip r:embed="rId4"/>
          <a:stretch>
            <a:fillRect/>
          </a:stretch>
        </p:blipFill>
        <p:spPr>
          <a:xfrm>
            <a:off x="9720072" y="1600200"/>
            <a:ext cx="658368" cy="658368"/>
          </a:xfrm>
          <a:prstGeom prst="rect">
            <a:avLst/>
          </a:prstGeom>
        </p:spPr>
      </p:pic>
      <p:pic>
        <p:nvPicPr>
          <p:cNvPr id="10" name="p4|19" descr="Candidato que sigue">    </p:cNvPr>
          <p:cNvPicPr>
            <a:picLocks noChangeAspect="1"/>
          </p:cNvPicPr>
          <p:nvPr/>
        </p:nvPicPr>
        <p:blipFill>
          <a:blip r:embed="rId5"/>
          <a:stretch>
            <a:fillRect/>
          </a:stretch>
        </p:blipFill>
        <p:spPr>
          <a:xfrm>
            <a:off x="10506456" y="1600200"/>
            <a:ext cx="658368" cy="658368"/>
          </a:xfrm>
          <a:prstGeom prst="rect">
            <a:avLst/>
          </a:prstGeom>
        </p:spPr>
      </p:pic>
      <p:pic>
        <p:nvPicPr>
          <p:cNvPr id="11" name="p5|20" descr="Candidato que sigue">    </p:cNvPr>
          <p:cNvPicPr>
            <a:picLocks noChangeAspect="1"/>
          </p:cNvPicPr>
          <p:nvPr/>
        </p:nvPicPr>
        <p:blipFill>
          <a:blip r:embed="rId6"/>
          <a:stretch>
            <a:fillRect/>
          </a:stretch>
        </p:blipFill>
        <p:spPr>
          <a:xfrm>
            <a:off x="7360920" y="2743200"/>
            <a:ext cx="658368" cy="658368"/>
          </a:xfrm>
          <a:prstGeom prst="rect">
            <a:avLst/>
          </a:prstGeom>
        </p:spPr>
      </p:pic>
      <p:pic>
        <p:nvPicPr>
          <p:cNvPr id="12" name="p6|21" descr="Candidato que sigue">    </p:cNvPr>
          <p:cNvPicPr>
            <a:picLocks noChangeAspect="1"/>
          </p:cNvPicPr>
          <p:nvPr/>
        </p:nvPicPr>
        <p:blipFill>
          <a:blip r:embed="rId7"/>
          <a:stretch>
            <a:fillRect/>
          </a:stretch>
        </p:blipFill>
        <p:spPr>
          <a:xfrm>
            <a:off x="8147304" y="2743200"/>
            <a:ext cx="658368" cy="658368"/>
          </a:xfrm>
          <a:prstGeom prst="rect">
            <a:avLst/>
          </a:prstGeom>
        </p:spPr>
      </p:pic>
      <p:pic>
        <p:nvPicPr>
          <p:cNvPr id="13" name="p7|22" descr="Candidato que sigue">    </p:cNvPr>
          <p:cNvPicPr>
            <a:picLocks noChangeAspect="1"/>
          </p:cNvPicPr>
          <p:nvPr/>
        </p:nvPicPr>
        <p:blipFill>
          <a:blip r:embed="rId8"/>
          <a:stretch>
            <a:fillRect/>
          </a:stretch>
        </p:blipFill>
        <p:spPr>
          <a:xfrm>
            <a:off x="8933688" y="2743200"/>
            <a:ext cx="658368" cy="658368"/>
          </a:xfrm>
          <a:prstGeom prst="rect">
            <a:avLst/>
          </a:prstGeom>
        </p:spPr>
      </p:pic>
      <p:pic>
        <p:nvPicPr>
          <p:cNvPr id="14" name="p8|23" descr="Candidato que sigue">    </p:cNvPr>
          <p:cNvPicPr>
            <a:picLocks noChangeAspect="1"/>
          </p:cNvPicPr>
          <p:nvPr/>
        </p:nvPicPr>
        <p:blipFill>
          <a:blip r:embed="rId9"/>
          <a:stretch>
            <a:fillRect/>
          </a:stretch>
        </p:blipFill>
        <p:spPr>
          <a:xfrm>
            <a:off x="9720072" y="2743200"/>
            <a:ext cx="658368" cy="658368"/>
          </a:xfrm>
          <a:prstGeom prst="rect">
            <a:avLst/>
          </a:prstGeom>
        </p:spPr>
      </p:pic>
      <p:pic>
        <p:nvPicPr>
          <p:cNvPr id="15" name="p9|24" descr="Candidato que sigue">    </p:cNvPr>
          <p:cNvPicPr>
            <a:picLocks noChangeAspect="1"/>
          </p:cNvPicPr>
          <p:nvPr/>
        </p:nvPicPr>
        <p:blipFill>
          <a:blip r:embed="rId10"/>
          <a:stretch>
            <a:fillRect/>
          </a:stretch>
        </p:blipFill>
        <p:spPr>
          <a:xfrm>
            <a:off x="10506456" y="2743200"/>
            <a:ext cx="658368" cy="658368"/>
          </a:xfrm>
          <a:prstGeom prst="rect">
            <a:avLst/>
          </a:prstGeom>
        </p:spPr>
      </p:pic>
      <p:sp>
        <p:nvSpPr>
          <p:cNvPr id="16" name="cap3|25"/>
          <p:cNvSpPr txBox="1"/>
          <p:nvPr/>
        </p:nvSpPr>
        <p:spPr>
          <a:xfrm>
            <a:off x="7269480" y="4206240"/>
            <a:ext cx="4023360" cy="548640"/>
          </a:xfrm>
          <a:prstGeom prst="rect">
            <a:avLst/>
          </a:prstGeom>
          <a:noFill/>
          <a:ln/>
        </p:spPr>
        <p:txBody>
          <a:bodyPr wrap="square" lIns="0" tIns="0" rIns="0" bIns="0" rtlCol="0" anchor="t"/>
          <a:lstStyle/>
          <a:p>
            <a:pPr algn="ctr" indent="0" marL="0">
              <a:buNone/>
            </a:pPr>
            <a:r>
              <a:rPr lang="en-US" sz="2400" b="1" dirty="0">
                <a:solidFill>
                  <a:srgbClr val="000000"/>
                </a:solidFill>
                <a:latin typeface="Arial" pitchFamily="34" charset="0"/>
                <a:ea typeface="Arial" pitchFamily="34" charset="-122"/>
                <a:cs typeface="Arial" pitchFamily="34" charset="-120"/>
              </a:rPr>
              <a:t>casi 4 de cada 10</a:t>
            </a:r>
            <a:endParaRPr lang="en-US" sz="2400" dirty="0"/>
          </a:p>
        </p:txBody>
      </p:sp>
      <p:pic>
        <p:nvPicPr>
          <p:cNvPr id="17" name="logo|26" descr="Logo de Liverpool">    </p:cNvPr>
          <p:cNvPicPr>
            <a:picLocks noChangeAspect="1"/>
          </p:cNvPicPr>
          <p:nvPr/>
        </p:nvPicPr>
        <p:blipFill>
          <a:blip r:embed="rId11"/>
          <a:stretch>
            <a:fillRect/>
          </a:stretch>
        </p:blipFill>
        <p:spPr>
          <a:xfrm>
            <a:off x="10332720" y="6263640"/>
            <a:ext cx="1371600" cy="347878"/>
          </a:xfrm>
          <a:prstGeom prst="rect">
            <a:avLst/>
          </a:prstGeom>
        </p:spPr>
      </p:pic>
    </p:spTree>
  </p:cSld>
  <p:clrMapOvr>
    <a:masterClrMapping/>
  </p:clrMapOvr>
  <p:transition spd="fast">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22" presetClass="entr" presetSubtype="8" grpId="0" fill="hold" nodeType="click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wipe(left)">
                                      <p:cBhvr>
                                        <p:cTn id="5" dur="180"/>
                                        <p:tgtEl>
                                          <p:spTgt spid="2"/>
                                        </p:tgtEl>
                                      </p:cBhvr>
                                    </p:animEffect>
                                  </p:childTnLst>
                                </p:cTn>
                              </p:par>
                            </p:childTnLst>
                          </p:cTn>
                        </p:par>
                      </p:childTnLst>
                    </p:cTn>
                  </p:par>
                  <p:par>
                    <p:cTn id="50" fill="hold">
                      <p:stCondLst>
                        <p:cond delay="indefinite"/>
                      </p:stCondLst>
                      <p:childTnLst>
                        <p:par>
                          <p:cTn id="51" fill="hold">
                            <p:stCondLst>
                              <p:cond delay="0"/>
                            </p:stCondLst>
                            <p:childTnLst>
                              <p:par>
                                <p:cTn id="8" presetID="10" presetClass="entr" presetSubtype="0" grpId="0" fill="hold" nodeType="click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150"/>
                                        <p:tgtEl>
                                          <p:spTgt spid="3"/>
                                        </p:tgtEl>
                                      </p:cBhvr>
                                    </p:animEffect>
                                  </p:childTnLst>
                                </p:cTn>
                              </p:par>
                              <p:par>
                                <p:cTn id="11" presetID="10" presetClass="entr" presetSubtype="0" grpId="0" fill="hold" nodeType="withEffect">
                                  <p:stCondLst>
                                    <p:cond delay="36"/>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125"/>
                                        <p:tgtEl>
                                          <p:spTgt spid="4"/>
                                        </p:tgtEl>
                                      </p:cBhvr>
                                    </p:animEffect>
                                  </p:childTnLst>
                                </p:cTn>
                              </p:par>
                              <p:par>
                                <p:cTn id="14" presetID="10" presetClass="entr" presetSubtype="0" grpId="0" fill="hold" nodeType="withEffect">
                                  <p:stCondLst>
                                    <p:cond delay="24"/>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125"/>
                                        <p:tgtEl>
                                          <p:spTgt spid="5"/>
                                        </p:tgtEl>
                                      </p:cBhvr>
                                    </p:animEffect>
                                  </p:childTnLst>
                                </p:cTn>
                              </p:par>
                              <p:par>
                                <p:cTn id="17" presetID="10" presetClass="entr" presetSubtype="0" fill="hold" nodeType="withEffect">
                                  <p:stCondLst>
                                    <p:cond delay="6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100"/>
                                        <p:tgtEl>
                                          <p:spTgt spid="6"/>
                                        </p:tgtEl>
                                      </p:cBhvr>
                                    </p:animEffect>
                                  </p:childTnLst>
                                </p:cTn>
                              </p:par>
                              <p:par>
                                <p:cTn id="20" presetID="10" presetClass="entr" presetSubtype="0" fill="hold" nodeType="withEffect">
                                  <p:stCondLst>
                                    <p:cond delay="76"/>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100"/>
                                        <p:tgtEl>
                                          <p:spTgt spid="7"/>
                                        </p:tgtEl>
                                      </p:cBhvr>
                                    </p:animEffect>
                                  </p:childTnLst>
                                </p:cTn>
                              </p:par>
                              <p:par>
                                <p:cTn id="23" presetID="10" presetClass="entr" presetSubtype="0" fill="hold" nodeType="withEffect">
                                  <p:stCondLst>
                                    <p:cond delay="91"/>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100"/>
                                        <p:tgtEl>
                                          <p:spTgt spid="8"/>
                                        </p:tgtEl>
                                      </p:cBhvr>
                                    </p:animEffect>
                                  </p:childTnLst>
                                </p:cTn>
                              </p:par>
                              <p:par>
                                <p:cTn id="26" presetID="10" presetClass="entr" presetSubtype="0" fill="hold" nodeType="withEffect">
                                  <p:stCondLst>
                                    <p:cond delay="107"/>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100"/>
                                        <p:tgtEl>
                                          <p:spTgt spid="9"/>
                                        </p:tgtEl>
                                      </p:cBhvr>
                                    </p:animEffect>
                                  </p:childTnLst>
                                </p:cTn>
                              </p:par>
                              <p:par>
                                <p:cTn id="29" presetID="10" presetClass="entr" presetSubtype="0" fill="hold" nodeType="withEffect">
                                  <p:stCondLst>
                                    <p:cond delay="122"/>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100"/>
                                        <p:tgtEl>
                                          <p:spTgt spid="10"/>
                                        </p:tgtEl>
                                      </p:cBhvr>
                                    </p:animEffect>
                                  </p:childTnLst>
                                </p:cTn>
                              </p:par>
                              <p:par>
                                <p:cTn id="32" presetID="10" presetClass="entr" presetSubtype="0" fill="hold" nodeType="withEffect">
                                  <p:stCondLst>
                                    <p:cond delay="138"/>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100"/>
                                        <p:tgtEl>
                                          <p:spTgt spid="11"/>
                                        </p:tgtEl>
                                      </p:cBhvr>
                                    </p:animEffect>
                                  </p:childTnLst>
                                </p:cTn>
                              </p:par>
                              <p:par>
                                <p:cTn id="35" presetID="10" presetClass="entr" presetSubtype="0" fill="hold" nodeType="withEffect">
                                  <p:stCondLst>
                                    <p:cond delay="154"/>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100"/>
                                        <p:tgtEl>
                                          <p:spTgt spid="12"/>
                                        </p:tgtEl>
                                      </p:cBhvr>
                                    </p:animEffect>
                                  </p:childTnLst>
                                </p:cTn>
                              </p:par>
                              <p:par>
                                <p:cTn id="38" presetID="10" presetClass="entr" presetSubtype="0" fill="hold" nodeType="withEffect">
                                  <p:stCondLst>
                                    <p:cond delay="169"/>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100"/>
                                        <p:tgtEl>
                                          <p:spTgt spid="13"/>
                                        </p:tgtEl>
                                      </p:cBhvr>
                                    </p:animEffect>
                                  </p:childTnLst>
                                </p:cTn>
                              </p:par>
                              <p:par>
                                <p:cTn id="41" presetID="10" presetClass="entr" presetSubtype="0" fill="hold" nodeType="withEffect">
                                  <p:stCondLst>
                                    <p:cond delay="185"/>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100"/>
                                        <p:tgtEl>
                                          <p:spTgt spid="14"/>
                                        </p:tgtEl>
                                      </p:cBhvr>
                                    </p:animEffect>
                                  </p:childTnLst>
                                </p:cTn>
                              </p:par>
                              <p:par>
                                <p:cTn id="44" presetID="10" presetClass="entr" presetSubtype="0" fill="hold" nodeType="withEffect">
                                  <p:stCondLst>
                                    <p:cond delay="20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100"/>
                                        <p:tgtEl>
                                          <p:spTgt spid="15"/>
                                        </p:tgtEl>
                                      </p:cBhvr>
                                    </p:animEffect>
                                  </p:childTnLst>
                                </p:cTn>
                              </p:par>
                              <p:par>
                                <p:cTn id="47" presetID="10" presetClass="entr" presetSubtype="0" grpId="0" fill="hold" nodeType="withEffect">
                                  <p:stCondLst>
                                    <p:cond delay="240"/>
                                  </p:stCondLst>
                                  <p:childTnLst>
                                    <p:set>
                                      <p:cBhvr>
                                        <p:cTn id="48" dur="1" fill="hold">
                                          <p:stCondLst>
                                            <p:cond delay="0"/>
                                          </p:stCondLst>
                                        </p:cTn>
                                        <p:tgtEl>
                                          <p:spTgt spid="16"/>
                                        </p:tgtEl>
                                        <p:attrNameLst>
                                          <p:attrName>style.visibility</p:attrName>
                                        </p:attrNameLst>
                                      </p:cBhvr>
                                      <p:to>
                                        <p:strVal val="visible"/>
                                      </p:to>
                                    </p:set>
                                    <p:animEffect transition="in" filter="fade">
                                      <p:cBhvr>
                                        <p:cTn id="49" dur="125"/>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animBg="1"/>
      <p:bldP spid="16" grpId="0"/>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DF0F8"/>
        </a:solidFill>
      </p:bgPr>
    </p:bg>
    <p:spTree>
      <p:nvGrpSpPr>
        <p:cNvPr id="1" name=""/>
        <p:cNvGrpSpPr/>
        <p:nvPr/>
      </p:nvGrpSpPr>
      <p:grpSpPr>
        <a:xfrm>
          <a:off x="0" y="0"/>
          <a:ext cx="0" cy="0"/>
          <a:chOff x="0" y="0"/>
          <a:chExt cx="0" cy="0"/>
        </a:xfrm>
      </p:grpSpPr>
      <p:sp>
        <p:nvSpPr>
          <p:cNvPr id="2" name="r1|27"/>
          <p:cNvSpPr txBox="1"/>
          <p:nvPr/>
        </p:nvSpPr>
        <p:spPr>
          <a:xfrm>
            <a:off x="731520" y="1188720"/>
            <a:ext cx="6035040" cy="640080"/>
          </a:xfrm>
          <a:prstGeom prst="rect">
            <a:avLst/>
          </a:prstGeom>
          <a:noFill/>
          <a:ln/>
        </p:spPr>
        <p:txBody>
          <a:bodyPr wrap="square" lIns="0" tIns="0" rIns="0" bIns="0" rtlCol="0" anchor="t"/>
          <a:lstStyle/>
          <a:p>
            <a:pPr indent="0" marL="0">
              <a:buNone/>
            </a:pPr>
            <a:r>
              <a:rPr lang="en-US" sz="3000" dirty="0">
                <a:solidFill>
                  <a:srgbClr val="000000"/>
                </a:solidFill>
                <a:latin typeface="Arial" pitchFamily="34" charset="0"/>
                <a:ea typeface="Arial" pitchFamily="34" charset="-122"/>
                <a:cs typeface="Arial" pitchFamily="34" charset="-120"/>
              </a:rPr>
              <a:t>Nosotros construimos lo que faltaba:</a:t>
            </a:r>
            <a:endParaRPr lang="en-US" sz="3000" dirty="0"/>
          </a:p>
        </p:txBody>
      </p:sp>
      <p:sp>
        <p:nvSpPr>
          <p:cNvPr id="3" name="r2|28"/>
          <p:cNvSpPr txBox="1"/>
          <p:nvPr/>
        </p:nvSpPr>
        <p:spPr>
          <a:xfrm>
            <a:off x="731520" y="1874520"/>
            <a:ext cx="6217920" cy="2377440"/>
          </a:xfrm>
          <a:prstGeom prst="rect">
            <a:avLst/>
          </a:prstGeom>
          <a:noFill/>
          <a:ln/>
        </p:spPr>
        <p:txBody>
          <a:bodyPr wrap="square" lIns="0" tIns="0" rIns="0" bIns="0" rtlCol="0" anchor="t"/>
          <a:lstStyle/>
          <a:p>
            <a:pPr indent="0" marL="0">
              <a:buNone/>
            </a:pPr>
            <a:r>
              <a:rPr lang="en-US" sz="7200" b="1" dirty="0">
                <a:solidFill>
                  <a:srgbClr val="E10098"/>
                </a:solidFill>
                <a:latin typeface="Arial" pitchFamily="34" charset="0"/>
                <a:ea typeface="Arial" pitchFamily="34" charset="-122"/>
                <a:cs typeface="Arial" pitchFamily="34" charset="-120"/>
              </a:rPr>
              <a:t>Que alguien</a:t>
            </a:r>
            <a:endParaRPr lang="en-US" sz="7200" dirty="0"/>
          </a:p>
          <a:p>
            <a:pPr indent="0" marL="0">
              <a:buNone/>
            </a:pPr>
            <a:r>
              <a:rPr lang="en-US" sz="7200" b="1" dirty="0">
                <a:solidFill>
                  <a:srgbClr val="E10098"/>
                </a:solidFill>
                <a:latin typeface="Arial" pitchFamily="34" charset="0"/>
                <a:ea typeface="Arial" pitchFamily="34" charset="-122"/>
                <a:cs typeface="Arial" pitchFamily="34" charset="-120"/>
              </a:rPr>
              <a:t>lo vea.</a:t>
            </a:r>
            <a:endParaRPr lang="en-US" sz="7200" dirty="0"/>
          </a:p>
        </p:txBody>
      </p:sp>
      <p:sp>
        <p:nvSpPr>
          <p:cNvPr id="4" name="r3|29"/>
          <p:cNvSpPr txBox="1"/>
          <p:nvPr/>
        </p:nvSpPr>
        <p:spPr>
          <a:xfrm>
            <a:off x="731520" y="4617720"/>
            <a:ext cx="6035040" cy="640080"/>
          </a:xfrm>
          <a:prstGeom prst="rect">
            <a:avLst/>
          </a:prstGeom>
          <a:noFill/>
          <a:ln/>
        </p:spPr>
        <p:txBody>
          <a:bodyPr wrap="square" lIns="0" tIns="0" rIns="0" bIns="0" rtlCol="0" anchor="t"/>
          <a:lstStyle/>
          <a:p>
            <a:pPr indent="0" marL="0">
              <a:buNone/>
            </a:pPr>
            <a:r>
              <a:rPr lang="en-US" sz="3200" b="1" dirty="0">
                <a:solidFill>
                  <a:srgbClr val="A30071"/>
                </a:solidFill>
                <a:latin typeface="Arial" pitchFamily="34" charset="0"/>
                <a:ea typeface="Arial" pitchFamily="34" charset="-122"/>
                <a:cs typeface="Arial" pitchFamily="34" charset="-120"/>
              </a:rPr>
              <a:t>Liver Companion</a:t>
            </a:r>
            <a:endParaRPr lang="en-US" sz="3200" dirty="0"/>
          </a:p>
        </p:txBody>
      </p:sp>
      <p:sp>
        <p:nvSpPr>
          <p:cNvPr id="5" name="r3|30"/>
          <p:cNvSpPr txBox="1"/>
          <p:nvPr/>
        </p:nvSpPr>
        <p:spPr>
          <a:xfrm>
            <a:off x="731520" y="5212080"/>
            <a:ext cx="6035040" cy="548640"/>
          </a:xfrm>
          <a:prstGeom prst="rect">
            <a:avLst/>
          </a:prstGeom>
          <a:noFill/>
          <a:ln/>
        </p:spPr>
        <p:txBody>
          <a:bodyPr wrap="square" lIns="0" tIns="0" rIns="0" bIns="0" rtlCol="0" anchor="t"/>
          <a:lstStyle/>
          <a:p>
            <a:pPr indent="0" marL="0">
              <a:buNone/>
            </a:pPr>
            <a:r>
              <a:rPr lang="en-US" sz="2200" dirty="0">
                <a:solidFill>
                  <a:srgbClr val="000000"/>
                </a:solidFill>
                <a:latin typeface="Arial" pitchFamily="34" charset="0"/>
                <a:ea typeface="Arial" pitchFamily="34" charset="-122"/>
                <a:cs typeface="Arial" pitchFamily="34" charset="-120"/>
              </a:rPr>
              <a:t>Que todos vean lo mismo.</a:t>
            </a:r>
            <a:endParaRPr lang="en-US" sz="2200" dirty="0"/>
          </a:p>
        </p:txBody>
      </p:sp>
      <p:pic>
        <p:nvPicPr>
          <p:cNvPr id="6" name="logo|31" descr="Logo de Liverpool">    </p:cNvPr>
          <p:cNvPicPr>
            <a:picLocks noChangeAspect="1"/>
          </p:cNvPicPr>
          <p:nvPr/>
        </p:nvPicPr>
        <p:blipFill>
          <a:blip r:embed="rId1"/>
          <a:stretch>
            <a:fillRect/>
          </a:stretch>
        </p:blipFill>
        <p:spPr>
          <a:xfrm>
            <a:off x="731520" y="365760"/>
            <a:ext cx="2011680" cy="510221"/>
          </a:xfrm>
          <a:prstGeom prst="rect">
            <a:avLst/>
          </a:prstGeom>
        </p:spPr>
      </p:pic>
      <p:pic>
        <p:nvPicPr>
          <p:cNvPr id="7" name="img4|32" descr="Mariana sonriendo, acompañada por un hiring manager y una reclutadora">    </p:cNvPr>
          <p:cNvPicPr>
            <a:picLocks noChangeAspect="1"/>
          </p:cNvPicPr>
          <p:nvPr/>
        </p:nvPicPr>
        <p:blipFill>
          <a:blip r:embed="rId2"/>
          <a:stretch>
            <a:fillRect/>
          </a:stretch>
        </p:blipFill>
        <p:spPr>
          <a:xfrm>
            <a:off x="6949440" y="1051560"/>
            <a:ext cx="4754880" cy="3803904"/>
          </a:xfrm>
          <a:prstGeom prst="rect">
            <a:avLst/>
          </a:prstGeom>
        </p:spPr>
      </p:pic>
    </p:spTree>
  </p:cSld>
  <p:clrMapOvr>
    <a:masterClrMapping/>
  </p:clrMapOvr>
  <p:transition spd="fast">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grpId="0" fill="hold" nodeType="click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175"/>
                                        <p:tgtEl>
                                          <p:spTgt spid="2"/>
                                        </p:tgtEl>
                                      </p:cBhvr>
                                    </p:animEffect>
                                  </p:childTnLst>
                                </p:cTn>
                              </p:par>
                            </p:childTnLst>
                          </p:cTn>
                        </p:par>
                      </p:childTnLst>
                    </p:cTn>
                  </p:par>
                  <p:par>
                    <p:cTn id="20" fill="hold">
                      <p:stCondLst>
                        <p:cond delay="indefinite"/>
                      </p:stCondLst>
                      <p:childTnLst>
                        <p:par>
                          <p:cTn id="21" fill="hold">
                            <p:stCondLst>
                              <p:cond delay="0"/>
                            </p:stCondLst>
                            <p:childTnLst>
                              <p:par>
                                <p:cTn id="8" presetID="10" presetClass="entr" presetSubtype="0" grpId="0" fill="hold" nodeType="click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180"/>
                                        <p:tgtEl>
                                          <p:spTgt spid="3"/>
                                        </p:tgtEl>
                                      </p:cBhvr>
                                    </p:animEffect>
                                  </p:childTnLst>
                                </p:cTn>
                              </p:par>
                              <p:par>
                                <p:cTn id="11" presetID="10" presetClass="entr" presetSubtype="0" fill="hold" nodeType="withEffect">
                                  <p:stCondLst>
                                    <p:cond delay="48"/>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180"/>
                                        <p:tgtEl>
                                          <p:spTgt spid="7"/>
                                        </p:tgtEl>
                                      </p:cBhvr>
                                    </p:animEffect>
                                  </p:childTnLst>
                                </p:cTn>
                              </p:par>
                              <p:par>
                                <p:cTn id="14" presetID="10" presetClass="entr" presetSubtype="0" grpId="0" fill="hold" nodeType="withEffect">
                                  <p:stCondLst>
                                    <p:cond delay="18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175"/>
                                        <p:tgtEl>
                                          <p:spTgt spid="4"/>
                                        </p:tgtEl>
                                      </p:cBhvr>
                                    </p:animEffect>
                                  </p:childTnLst>
                                </p:cTn>
                              </p:par>
                              <p:par>
                                <p:cTn id="17" presetID="10" presetClass="entr" presetSubtype="0" grpId="0" fill="hold" nodeType="withEffect">
                                  <p:stCondLst>
                                    <p:cond delay="18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175"/>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t5|33"/>
          <p:cNvSpPr txBox="1"/>
          <p:nvPr/>
        </p:nvSpPr>
        <p:spPr>
          <a:xfrm>
            <a:off x="640080" y="502920"/>
            <a:ext cx="10972800" cy="914400"/>
          </a:xfrm>
          <a:prstGeom prst="rect">
            <a:avLst/>
          </a:prstGeom>
          <a:noFill/>
          <a:ln/>
        </p:spPr>
        <p:txBody>
          <a:bodyPr wrap="square" lIns="0" tIns="0" rIns="0" bIns="0" rtlCol="0" anchor="t"/>
          <a:lstStyle/>
          <a:p>
            <a:pPr indent="0" marL="0">
              <a:buNone/>
            </a:pPr>
            <a:r>
              <a:rPr lang="en-US" sz="4400" b="1" dirty="0">
                <a:solidFill>
                  <a:srgbClr val="000000"/>
                </a:solidFill>
                <a:latin typeface="Arial" pitchFamily="34" charset="0"/>
                <a:ea typeface="Arial" pitchFamily="34" charset="-122"/>
                <a:cs typeface="Arial" pitchFamily="34" charset="-120"/>
              </a:rPr>
              <a:t>No es actitud. Es </a:t>
            </a:r>
            <a:pPr indent="0" marL="0">
              <a:buNone/>
            </a:pPr>
            <a:r>
              <a:rPr lang="en-US" sz="4400" b="1" dirty="0">
                <a:solidFill>
                  <a:srgbClr val="E10098"/>
                </a:solidFill>
                <a:latin typeface="Arial" pitchFamily="34" charset="0"/>
                <a:ea typeface="Arial" pitchFamily="34" charset="-122"/>
                <a:cs typeface="Arial" pitchFamily="34" charset="-120"/>
              </a:rPr>
              <a:t>invisibilidad.</a:t>
            </a:r>
            <a:endParaRPr lang="en-US" sz="4400" dirty="0"/>
          </a:p>
        </p:txBody>
      </p:sp>
      <p:sp>
        <p:nvSpPr>
          <p:cNvPr id="3" name="c80|34"/>
          <p:cNvSpPr/>
          <p:nvPr/>
        </p:nvSpPr>
        <p:spPr>
          <a:xfrm>
            <a:off x="640080" y="1691640"/>
            <a:ext cx="5394960" cy="2834640"/>
          </a:xfrm>
          <a:prstGeom prst="roundRect">
            <a:avLst>
              <a:gd name="adj" fmla="val 6452"/>
            </a:avLst>
          </a:prstGeom>
          <a:solidFill>
            <a:srgbClr val="FDF0F8"/>
          </a:solidFill>
          <a:ln w="12700">
            <a:solidFill>
              <a:srgbClr val="FDF0F8"/>
            </a:solidFill>
            <a:prstDash val="solid"/>
          </a:ln>
        </p:spPr>
      </p:sp>
      <p:sp>
        <p:nvSpPr>
          <p:cNvPr id="4" name="c80|35"/>
          <p:cNvSpPr txBox="1"/>
          <p:nvPr/>
        </p:nvSpPr>
        <p:spPr>
          <a:xfrm>
            <a:off x="1005840" y="1874520"/>
            <a:ext cx="4572000" cy="1554480"/>
          </a:xfrm>
          <a:prstGeom prst="rect">
            <a:avLst/>
          </a:prstGeom>
          <a:noFill/>
          <a:ln/>
        </p:spPr>
        <p:txBody>
          <a:bodyPr wrap="square" lIns="0" tIns="0" rIns="0" bIns="0" rtlCol="0" anchor="t"/>
          <a:lstStyle/>
          <a:p>
            <a:pPr indent="0" marL="0">
              <a:buNone/>
            </a:pPr>
            <a:r>
              <a:rPr lang="en-US" sz="9600" b="1" dirty="0">
                <a:solidFill>
                  <a:srgbClr val="E10098"/>
                </a:solidFill>
                <a:latin typeface="Arial" pitchFamily="34" charset="0"/>
                <a:ea typeface="Arial" pitchFamily="34" charset="-122"/>
                <a:cs typeface="Arial" pitchFamily="34" charset="-120"/>
              </a:rPr>
              <a:t>80%</a:t>
            </a:r>
            <a:endParaRPr lang="en-US" sz="9600" dirty="0"/>
          </a:p>
        </p:txBody>
      </p:sp>
      <p:sp>
        <p:nvSpPr>
          <p:cNvPr id="5" name="c80|36"/>
          <p:cNvSpPr txBox="1"/>
          <p:nvPr/>
        </p:nvSpPr>
        <p:spPr>
          <a:xfrm>
            <a:off x="1005840" y="3520440"/>
            <a:ext cx="4663440" cy="868680"/>
          </a:xfrm>
          <a:prstGeom prst="rect">
            <a:avLst/>
          </a:prstGeom>
          <a:noFill/>
          <a:ln/>
        </p:spPr>
        <p:txBody>
          <a:bodyPr wrap="square" lIns="0" tIns="0" rIns="0" bIns="0" rtlCol="0" anchor="t"/>
          <a:lstStyle/>
          <a:p>
            <a:pPr indent="0" marL="0">
              <a:buNone/>
            </a:pPr>
            <a:r>
              <a:rPr lang="en-US" sz="2200" dirty="0">
                <a:solidFill>
                  <a:srgbClr val="000000"/>
                </a:solidFill>
                <a:latin typeface="Arial" pitchFamily="34" charset="0"/>
                <a:ea typeface="Arial" pitchFamily="34" charset="-122"/>
                <a:cs typeface="Arial" pitchFamily="34" charset="-120"/>
              </a:rPr>
              <a:t>de los reclutadores cree entender bien la vacante</a:t>
            </a:r>
            <a:endParaRPr lang="en-US" sz="2200" dirty="0"/>
          </a:p>
        </p:txBody>
      </p:sp>
      <p:sp>
        <p:nvSpPr>
          <p:cNvPr id="6" name="c61|37"/>
          <p:cNvSpPr/>
          <p:nvPr/>
        </p:nvSpPr>
        <p:spPr>
          <a:xfrm>
            <a:off x="6309360" y="1691640"/>
            <a:ext cx="5212080" cy="2834640"/>
          </a:xfrm>
          <a:prstGeom prst="roundRect">
            <a:avLst>
              <a:gd name="adj" fmla="val 6452"/>
            </a:avLst>
          </a:prstGeom>
          <a:solidFill>
            <a:srgbClr val="F2F2F2"/>
          </a:solidFill>
          <a:ln w="12700">
            <a:solidFill>
              <a:srgbClr val="F2F2F2"/>
            </a:solidFill>
            <a:prstDash val="solid"/>
          </a:ln>
        </p:spPr>
      </p:sp>
      <p:sp>
        <p:nvSpPr>
          <p:cNvPr id="7" name="c61|38"/>
          <p:cNvSpPr txBox="1"/>
          <p:nvPr/>
        </p:nvSpPr>
        <p:spPr>
          <a:xfrm>
            <a:off x="6675120" y="1874520"/>
            <a:ext cx="4572000" cy="1554480"/>
          </a:xfrm>
          <a:prstGeom prst="rect">
            <a:avLst/>
          </a:prstGeom>
          <a:noFill/>
          <a:ln/>
        </p:spPr>
        <p:txBody>
          <a:bodyPr wrap="square" lIns="0" tIns="0" rIns="0" bIns="0" rtlCol="0" anchor="t"/>
          <a:lstStyle/>
          <a:p>
            <a:pPr indent="0" marL="0">
              <a:buNone/>
            </a:pPr>
            <a:r>
              <a:rPr lang="en-US" sz="9600" b="1" dirty="0">
                <a:solidFill>
                  <a:srgbClr val="000000"/>
                </a:solidFill>
                <a:latin typeface="Arial" pitchFamily="34" charset="0"/>
                <a:ea typeface="Arial" pitchFamily="34" charset="-122"/>
                <a:cs typeface="Arial" pitchFamily="34" charset="-120"/>
              </a:rPr>
              <a:t>61%</a:t>
            </a:r>
            <a:endParaRPr lang="en-US" sz="9600" dirty="0"/>
          </a:p>
        </p:txBody>
      </p:sp>
      <p:sp>
        <p:nvSpPr>
          <p:cNvPr id="8" name="c61|39"/>
          <p:cNvSpPr txBox="1"/>
          <p:nvPr/>
        </p:nvSpPr>
        <p:spPr>
          <a:xfrm>
            <a:off x="6675120" y="3520440"/>
            <a:ext cx="4572000" cy="868680"/>
          </a:xfrm>
          <a:prstGeom prst="rect">
            <a:avLst/>
          </a:prstGeom>
          <a:noFill/>
          <a:ln/>
        </p:spPr>
        <p:txBody>
          <a:bodyPr wrap="square" lIns="0" tIns="0" rIns="0" bIns="0" rtlCol="0" anchor="t"/>
          <a:lstStyle/>
          <a:p>
            <a:pPr indent="0" marL="0">
              <a:buNone/>
            </a:pPr>
            <a:r>
              <a:rPr lang="en-US" sz="2200" dirty="0">
                <a:solidFill>
                  <a:srgbClr val="000000"/>
                </a:solidFill>
                <a:latin typeface="Arial" pitchFamily="34" charset="0"/>
                <a:ea typeface="Arial" pitchFamily="34" charset="-122"/>
                <a:cs typeface="Arial" pitchFamily="34" charset="-120"/>
              </a:rPr>
              <a:t>de los hiring managers dice que no la entienden</a:t>
            </a:r>
            <a:endParaRPr lang="en-US" sz="2200" dirty="0"/>
          </a:p>
        </p:txBody>
      </p:sp>
      <p:sp>
        <p:nvSpPr>
          <p:cNvPr id="9" name="bar5|40"/>
          <p:cNvSpPr/>
          <p:nvPr/>
        </p:nvSpPr>
        <p:spPr>
          <a:xfrm>
            <a:off x="640080" y="4800600"/>
            <a:ext cx="10881360" cy="1005840"/>
          </a:xfrm>
          <a:prstGeom prst="roundRect">
            <a:avLst>
              <a:gd name="adj" fmla="val 18182"/>
            </a:avLst>
          </a:prstGeom>
          <a:solidFill>
            <a:srgbClr val="FFFFFF"/>
          </a:solidFill>
          <a:ln w="15875">
            <a:solidFill>
              <a:srgbClr val="E5E5E5"/>
            </a:solidFill>
            <a:prstDash val="solid"/>
          </a:ln>
        </p:spPr>
      </p:sp>
      <p:sp>
        <p:nvSpPr>
          <p:cNvPr id="10" name="bar5|41"/>
          <p:cNvSpPr/>
          <p:nvPr/>
        </p:nvSpPr>
        <p:spPr>
          <a:xfrm>
            <a:off x="914400" y="5029200"/>
            <a:ext cx="548640" cy="548640"/>
          </a:xfrm>
          <a:prstGeom prst="ellipse">
            <a:avLst/>
          </a:prstGeom>
          <a:solidFill>
            <a:srgbClr val="E10098"/>
          </a:solidFill>
          <a:ln w="12700">
            <a:solidFill>
              <a:srgbClr val="E10098"/>
            </a:solidFill>
            <a:prstDash val="solid"/>
          </a:ln>
        </p:spPr>
      </p:sp>
      <p:pic>
        <p:nvPicPr>
          <p:cNvPr id="11" name="bar5|42" descr="Reloj">    </p:cNvPr>
          <p:cNvPicPr>
            <a:picLocks noChangeAspect="1"/>
          </p:cNvPicPr>
          <p:nvPr/>
        </p:nvPicPr>
        <p:blipFill>
          <a:blip r:embed="rId1"/>
          <a:stretch>
            <a:fillRect/>
          </a:stretch>
        </p:blipFill>
        <p:spPr>
          <a:xfrm>
            <a:off x="1051560" y="5166360"/>
            <a:ext cx="274320" cy="274320"/>
          </a:xfrm>
          <a:prstGeom prst="rect">
            <a:avLst/>
          </a:prstGeom>
        </p:spPr>
      </p:pic>
      <p:sp>
        <p:nvSpPr>
          <p:cNvPr id="12" name="bar5|43"/>
          <p:cNvSpPr txBox="1"/>
          <p:nvPr/>
        </p:nvSpPr>
        <p:spPr>
          <a:xfrm>
            <a:off x="1691640" y="5029200"/>
            <a:ext cx="9601200" cy="548640"/>
          </a:xfrm>
          <a:prstGeom prst="rect">
            <a:avLst/>
          </a:prstGeom>
          <a:noFill/>
          <a:ln/>
        </p:spPr>
        <p:txBody>
          <a:bodyPr wrap="square" lIns="0" tIns="0" rIns="0" bIns="0" rtlCol="0" anchor="ctr"/>
          <a:lstStyle/>
          <a:p>
            <a:pPr indent="0" marL="0">
              <a:buNone/>
            </a:pPr>
            <a:r>
              <a:rPr lang="en-US" sz="2200" b="1" dirty="0">
                <a:solidFill>
                  <a:srgbClr val="000000"/>
                </a:solidFill>
                <a:latin typeface="Arial" pitchFamily="34" charset="0"/>
                <a:ea typeface="Arial" pitchFamily="34" charset="-122"/>
                <a:cs typeface="Arial" pitchFamily="34" charset="-120"/>
              </a:rPr>
              <a:t>El resultado: </a:t>
            </a:r>
            <a:pPr indent="0" marL="0">
              <a:buNone/>
            </a:pPr>
            <a:r>
              <a:rPr lang="en-US" sz="2200" dirty="0">
                <a:solidFill>
                  <a:srgbClr val="000000"/>
                </a:solidFill>
                <a:latin typeface="Arial" pitchFamily="34" charset="0"/>
                <a:ea typeface="Arial" pitchFamily="34" charset="-122"/>
                <a:cs typeface="Arial" pitchFamily="34" charset="-120"/>
              </a:rPr>
              <a:t>en México el proceso dura 52 días. RH espera 4 semanas.</a:t>
            </a:r>
            <a:endParaRPr lang="en-US" sz="2200" dirty="0"/>
          </a:p>
        </p:txBody>
      </p:sp>
      <p:sp>
        <p:nvSpPr>
          <p:cNvPr id="13" name="src5|44"/>
          <p:cNvSpPr txBox="1"/>
          <p:nvPr/>
        </p:nvSpPr>
        <p:spPr>
          <a:xfrm>
            <a:off x="640080" y="6263640"/>
            <a:ext cx="8229600" cy="274320"/>
          </a:xfrm>
          <a:prstGeom prst="rect">
            <a:avLst/>
          </a:prstGeom>
          <a:noFill/>
          <a:ln/>
        </p:spPr>
        <p:txBody>
          <a:bodyPr wrap="square" lIns="0" tIns="0" rIns="0" bIns="0" rtlCol="0" anchor="t"/>
          <a:lstStyle/>
          <a:p>
            <a:pPr indent="0" marL="0">
              <a:buNone/>
            </a:pPr>
            <a:r>
              <a:rPr lang="en-US" sz="1000" dirty="0">
                <a:solidFill>
                  <a:srgbClr val="8C8C8C"/>
                </a:solidFill>
                <a:latin typeface="Arial" pitchFamily="34" charset="0"/>
                <a:ea typeface="Arial" pitchFamily="34" charset="-122"/>
                <a:cs typeface="Arial" pitchFamily="34" charset="-120"/>
              </a:rPr>
              <a:t>Fuentes: iCIMS (citado por CBS News); Computrabajo.</a:t>
            </a:r>
            <a:endParaRPr lang="en-US" sz="1000" dirty="0"/>
          </a:p>
        </p:txBody>
      </p:sp>
      <p:pic>
        <p:nvPicPr>
          <p:cNvPr id="14" name="logo|45" descr="Logo de Liverpool">    </p:cNvPr>
          <p:cNvPicPr>
            <a:picLocks noChangeAspect="1"/>
          </p:cNvPicPr>
          <p:nvPr/>
        </p:nvPicPr>
        <p:blipFill>
          <a:blip r:embed="rId2"/>
          <a:stretch>
            <a:fillRect/>
          </a:stretch>
        </p:blipFill>
        <p:spPr>
          <a:xfrm>
            <a:off x="10332720" y="6263640"/>
            <a:ext cx="1371600" cy="347878"/>
          </a:xfrm>
          <a:prstGeom prst="rect">
            <a:avLst/>
          </a:prstGeom>
        </p:spPr>
      </p:pic>
    </p:spTree>
  </p:cSld>
  <p:clrMapOvr>
    <a:masterClrMapping/>
  </p:clrMapOvr>
  <p:transition spd="fast">
    <p:fade/>
  </p:transition>
  <p:timing>
    <p:tnLst>
      <p:par>
        <p:cTn id="1" dur="indefinite" restart="never" nodeType="tmRoot">
          <p:childTnLst>
            <p:seq concurrent="1" nextAc="seek">
              <p:cTn id="2" dur="indefinite" nodeType="mainSeq">
                <p:childTnLst>
                  <p:par>
                    <p:cTn id="18" fill="hold">
                      <p:stCondLst>
                        <p:cond delay="indefinite"/>
                      </p:stCondLst>
                      <p:childTnLst>
                        <p:par>
                          <p:cTn id="19" fill="hold">
                            <p:stCondLst>
                              <p:cond delay="0"/>
                            </p:stCondLst>
                            <p:childTnLst>
                              <p:par>
                                <p:cTn id="3" presetID="10" presetClass="entr" presetSubtype="0" grpId="0" fill="hold" nodeType="click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175"/>
                                        <p:tgtEl>
                                          <p:spTgt spid="2"/>
                                        </p:tgtEl>
                                      </p:cBhvr>
                                    </p:animEffect>
                                  </p:childTnLst>
                                </p:cTn>
                              </p:par>
                              <p:par>
                                <p:cTn id="6" presetID="10" presetClass="entr" presetSubtype="0" grpId="0" fill="hold" nodeType="withEffect">
                                  <p:stCondLst>
                                    <p:cond delay="36"/>
                                  </p:stCondLst>
                                  <p:childTnLst>
                                    <p:set>
                                      <p:cBhvr>
                                        <p:cTn id="7" dur="1" fill="hold">
                                          <p:stCondLst>
                                            <p:cond delay="0"/>
                                          </p:stCondLst>
                                        </p:cTn>
                                        <p:tgtEl>
                                          <p:spTgt spid="13"/>
                                        </p:tgtEl>
                                        <p:attrNameLst>
                                          <p:attrName>style.visibility</p:attrName>
                                        </p:attrNameLst>
                                      </p:cBhvr>
                                      <p:to>
                                        <p:strVal val="visible"/>
                                      </p:to>
                                    </p:set>
                                    <p:animEffect transition="in" filter="fade">
                                      <p:cBhvr>
                                        <p:cTn id="8" dur="125"/>
                                        <p:tgtEl>
                                          <p:spTgt spid="13"/>
                                        </p:tgtEl>
                                      </p:cBhvr>
                                    </p:animEffect>
                                  </p:childTnLst>
                                </p:cTn>
                              </p:par>
                              <p:par>
                                <p:cTn id="9" presetID="10" presetClass="entr" presetSubtype="0" grpId="0" fill="hold" nodeType="withEffect">
                                  <p:stCondLst>
                                    <p:cond delay="72"/>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175"/>
                                        <p:tgtEl>
                                          <p:spTgt spid="3"/>
                                        </p:tgtEl>
                                      </p:cBhvr>
                                    </p:animEffect>
                                  </p:childTnLst>
                                </p:cTn>
                              </p:par>
                              <p:par>
                                <p:cTn id="12" presetID="10" presetClass="entr" presetSubtype="0" grpId="0" fill="hold" nodeType="withEffect">
                                  <p:stCondLst>
                                    <p:cond delay="72"/>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75"/>
                                        <p:tgtEl>
                                          <p:spTgt spid="4"/>
                                        </p:tgtEl>
                                      </p:cBhvr>
                                    </p:animEffect>
                                  </p:childTnLst>
                                </p:cTn>
                              </p:par>
                              <p:par>
                                <p:cTn id="15" presetID="10" presetClass="entr" presetSubtype="0" grpId="0" fill="hold" nodeType="withEffect">
                                  <p:stCondLst>
                                    <p:cond delay="72"/>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175"/>
                                        <p:tgtEl>
                                          <p:spTgt spid="5"/>
                                        </p:tgtEl>
                                      </p:cBhvr>
                                    </p:animEffect>
                                  </p:childTnLst>
                                </p:cTn>
                              </p:par>
                            </p:childTnLst>
                          </p:cTn>
                        </p:par>
                      </p:childTnLst>
                    </p:cTn>
                  </p:par>
                  <p:par>
                    <p:cTn id="29" fill="hold">
                      <p:stCondLst>
                        <p:cond delay="indefinite"/>
                      </p:stCondLst>
                      <p:childTnLst>
                        <p:par>
                          <p:cTn id="30" fill="hold">
                            <p:stCondLst>
                              <p:cond delay="0"/>
                            </p:stCondLst>
                            <p:childTnLst>
                              <p:par>
                                <p:cTn id="20" presetID="10" presetClass="entr" presetSubtype="0" grpId="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175"/>
                                        <p:tgtEl>
                                          <p:spTgt spid="6"/>
                                        </p:tgtEl>
                                      </p:cBhvr>
                                    </p:animEffect>
                                  </p:childTnLst>
                                </p:cTn>
                              </p:par>
                              <p:par>
                                <p:cTn id="23" presetID="10" presetClass="entr" presetSubtype="0" grpId="0" fill="hold" nodeType="with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175"/>
                                        <p:tgtEl>
                                          <p:spTgt spid="7"/>
                                        </p:tgtEl>
                                      </p:cBhvr>
                                    </p:animEffect>
                                  </p:childTnLst>
                                </p:cTn>
                              </p:par>
                              <p:par>
                                <p:cTn id="26" presetID="10" presetClass="entr" presetSubtype="0" grpId="0" fill="hold" nodeType="with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175"/>
                                        <p:tgtEl>
                                          <p:spTgt spid="8"/>
                                        </p:tgtEl>
                                      </p:cBhvr>
                                    </p:animEffect>
                                  </p:childTnLst>
                                </p:cTn>
                              </p:par>
                            </p:childTnLst>
                          </p:cTn>
                        </p:par>
                      </p:childTnLst>
                    </p:cTn>
                  </p:par>
                  <p:par>
                    <p:cTn id="43" fill="hold">
                      <p:stCondLst>
                        <p:cond delay="indefinite"/>
                      </p:stCondLst>
                      <p:childTnLst>
                        <p:par>
                          <p:cTn id="44" fill="hold">
                            <p:stCondLst>
                              <p:cond delay="0"/>
                            </p:stCondLst>
                            <p:childTnLst>
                              <p:par>
                                <p:cTn id="31" presetID="22" presetClass="entr" presetSubtype="8" grpId="0" fill="hold" nodeType="click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wipe(left)">
                                      <p:cBhvr>
                                        <p:cTn id="33" dur="180"/>
                                        <p:tgtEl>
                                          <p:spTgt spid="9"/>
                                        </p:tgtEl>
                                      </p:cBhvr>
                                    </p:animEffect>
                                  </p:childTnLst>
                                </p:cTn>
                              </p:par>
                              <p:par>
                                <p:cTn id="34" presetID="22" presetClass="entr" presetSubtype="8" grpId="0" fill="hold" nodeType="withEffect">
                                  <p:stCondLst>
                                    <p:cond delay="0"/>
                                  </p:stCondLst>
                                  <p:childTnLst>
                                    <p:set>
                                      <p:cBhvr>
                                        <p:cTn id="35" dur="1" fill="hold">
                                          <p:stCondLst>
                                            <p:cond delay="0"/>
                                          </p:stCondLst>
                                        </p:cTn>
                                        <p:tgtEl>
                                          <p:spTgt spid="10"/>
                                        </p:tgtEl>
                                        <p:attrNameLst>
                                          <p:attrName>style.visibility</p:attrName>
                                        </p:attrNameLst>
                                      </p:cBhvr>
                                      <p:to>
                                        <p:strVal val="visible"/>
                                      </p:to>
                                    </p:set>
                                    <p:animEffect transition="in" filter="wipe(left)">
                                      <p:cBhvr>
                                        <p:cTn id="36" dur="180"/>
                                        <p:tgtEl>
                                          <p:spTgt spid="10"/>
                                        </p:tgtEl>
                                      </p:cBhvr>
                                    </p:animEffect>
                                  </p:childTnLst>
                                </p:cTn>
                              </p:par>
                              <p:par>
                                <p:cTn id="37" presetID="22" presetClass="entr" presetSubtype="8" fill="hold" nodeType="with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wipe(left)">
                                      <p:cBhvr>
                                        <p:cTn id="39" dur="180"/>
                                        <p:tgtEl>
                                          <p:spTgt spid="11"/>
                                        </p:tgtEl>
                                      </p:cBhvr>
                                    </p:animEffect>
                                  </p:childTnLst>
                                </p:cTn>
                              </p:par>
                              <p:par>
                                <p:cTn id="40" presetID="22" presetClass="entr" presetSubtype="8" grpId="0" fill="hold" nodeType="with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wipe(left)">
                                      <p:cBhvr>
                                        <p:cTn id="42" dur="18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3" grpId="0"/>
      <p:bldP spid="3" grpId="0" animBg="1"/>
      <p:bldP spid="4" grpId="0"/>
      <p:bldP spid="5" grpId="0"/>
      <p:bldP spid="6" grpId="0" animBg="1"/>
      <p:bldP spid="7" grpId="0"/>
      <p:bldP spid="8" grpId="0"/>
      <p:bldP spid="9" grpId="0" animBg="1"/>
      <p:bldP spid="10" grpId="0" animBg="1"/>
      <p:bldP spid="12" grpId="0"/>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t6|46"/>
          <p:cNvSpPr txBox="1"/>
          <p:nvPr/>
        </p:nvSpPr>
        <p:spPr>
          <a:xfrm>
            <a:off x="640080" y="502920"/>
            <a:ext cx="10972800" cy="914400"/>
          </a:xfrm>
          <a:prstGeom prst="rect">
            <a:avLst/>
          </a:prstGeom>
          <a:noFill/>
          <a:ln/>
        </p:spPr>
        <p:txBody>
          <a:bodyPr wrap="square" lIns="0" tIns="0" rIns="0" bIns="0" rtlCol="0" anchor="t"/>
          <a:lstStyle/>
          <a:p>
            <a:pPr indent="0" marL="0">
              <a:buNone/>
            </a:pPr>
            <a:r>
              <a:rPr lang="en-US" sz="4000" b="1" dirty="0">
                <a:solidFill>
                  <a:srgbClr val="000000"/>
                </a:solidFill>
                <a:latin typeface="Arial" pitchFamily="34" charset="0"/>
                <a:ea typeface="Arial" pitchFamily="34" charset="-122"/>
                <a:cs typeface="Arial" pitchFamily="34" charset="-120"/>
              </a:rPr>
              <a:t>Liver Companion: que todos </a:t>
            </a:r>
            <a:pPr indent="0" marL="0">
              <a:buNone/>
            </a:pPr>
            <a:r>
              <a:rPr lang="en-US" sz="4000" b="1" dirty="0">
                <a:solidFill>
                  <a:srgbClr val="E10098"/>
                </a:solidFill>
                <a:latin typeface="Arial" pitchFamily="34" charset="0"/>
                <a:ea typeface="Arial" pitchFamily="34" charset="-122"/>
                <a:cs typeface="Arial" pitchFamily="34" charset="-120"/>
              </a:rPr>
              <a:t>vean lo mismo.</a:t>
            </a:r>
            <a:endParaRPr lang="en-US" sz="4000" dirty="0"/>
          </a:p>
        </p:txBody>
      </p:sp>
      <p:sp>
        <p:nvSpPr>
          <p:cNvPr id="3" name="row1|47"/>
          <p:cNvSpPr/>
          <p:nvPr/>
        </p:nvSpPr>
        <p:spPr>
          <a:xfrm>
            <a:off x="640080" y="1783080"/>
            <a:ext cx="777240" cy="777240"/>
          </a:xfrm>
          <a:prstGeom prst="ellipse">
            <a:avLst/>
          </a:prstGeom>
          <a:solidFill>
            <a:srgbClr val="E10098"/>
          </a:solidFill>
          <a:ln w="12700">
            <a:solidFill>
              <a:srgbClr val="E10098"/>
            </a:solidFill>
            <a:prstDash val="solid"/>
          </a:ln>
        </p:spPr>
      </p:sp>
      <p:pic>
        <p:nvPicPr>
          <p:cNvPr id="4" name="row1|48" descr="Alinear">    </p:cNvPr>
          <p:cNvPicPr>
            <a:picLocks noChangeAspect="1"/>
          </p:cNvPicPr>
          <p:nvPr/>
        </p:nvPicPr>
        <p:blipFill>
          <a:blip r:embed="rId1"/>
          <a:stretch>
            <a:fillRect/>
          </a:stretch>
        </p:blipFill>
        <p:spPr>
          <a:xfrm>
            <a:off x="868680" y="2011680"/>
            <a:ext cx="320040" cy="320040"/>
          </a:xfrm>
          <a:prstGeom prst="rect">
            <a:avLst/>
          </a:prstGeom>
        </p:spPr>
      </p:pic>
      <p:sp>
        <p:nvSpPr>
          <p:cNvPr id="5" name="row1|49"/>
          <p:cNvSpPr txBox="1"/>
          <p:nvPr/>
        </p:nvSpPr>
        <p:spPr>
          <a:xfrm>
            <a:off x="1645920" y="1764792"/>
            <a:ext cx="3931920" cy="457200"/>
          </a:xfrm>
          <a:prstGeom prst="rect">
            <a:avLst/>
          </a:prstGeom>
          <a:noFill/>
          <a:ln/>
        </p:spPr>
        <p:txBody>
          <a:bodyPr wrap="square" lIns="0" tIns="0" rIns="0" bIns="0" rtlCol="0" anchor="t"/>
          <a:lstStyle/>
          <a:p>
            <a:pPr indent="0" marL="0">
              <a:buNone/>
            </a:pPr>
            <a:r>
              <a:rPr lang="en-US" sz="2400" b="1" dirty="0">
                <a:solidFill>
                  <a:srgbClr val="A30071"/>
                </a:solidFill>
                <a:latin typeface="Arial" pitchFamily="34" charset="0"/>
                <a:ea typeface="Arial" pitchFamily="34" charset="-122"/>
                <a:cs typeface="Arial" pitchFamily="34" charset="-120"/>
              </a:rPr>
              <a:t>Alinear</a:t>
            </a:r>
            <a:endParaRPr lang="en-US" sz="2400" dirty="0"/>
          </a:p>
        </p:txBody>
      </p:sp>
      <p:sp>
        <p:nvSpPr>
          <p:cNvPr id="6" name="row1|50"/>
          <p:cNvSpPr txBox="1"/>
          <p:nvPr/>
        </p:nvSpPr>
        <p:spPr>
          <a:xfrm>
            <a:off x="1645920" y="2194560"/>
            <a:ext cx="4023360" cy="868680"/>
          </a:xfrm>
          <a:prstGeom prst="rect">
            <a:avLst/>
          </a:prstGeom>
          <a:noFill/>
          <a:ln/>
        </p:spPr>
        <p:txBody>
          <a:bodyPr wrap="square" lIns="0" tIns="0" rIns="0" bIns="0" rtlCol="0" anchor="t"/>
          <a:lstStyle/>
          <a:p>
            <a:pPr indent="0" marL="0">
              <a:buNone/>
            </a:pPr>
            <a:r>
              <a:rPr lang="en-US" sz="1500" dirty="0">
                <a:solidFill>
                  <a:srgbClr val="000000"/>
                </a:solidFill>
                <a:latin typeface="Arial" pitchFamily="34" charset="0"/>
                <a:ea typeface="Arial" pitchFamily="34" charset="-122"/>
                <a:cs typeface="Arial" pitchFamily="34" charset="-120"/>
              </a:rPr>
              <a:t>El Hiring Manager dice lo que necesita. El BP solo lo valida. Nadie busca a ciegas.</a:t>
            </a:r>
            <a:endParaRPr lang="en-US" sz="1500" dirty="0"/>
          </a:p>
        </p:txBody>
      </p:sp>
      <p:sp>
        <p:nvSpPr>
          <p:cNvPr id="7" name="row2|51"/>
          <p:cNvSpPr/>
          <p:nvPr/>
        </p:nvSpPr>
        <p:spPr>
          <a:xfrm>
            <a:off x="640080" y="3154680"/>
            <a:ext cx="777240" cy="777240"/>
          </a:xfrm>
          <a:prstGeom prst="ellipse">
            <a:avLst/>
          </a:prstGeom>
          <a:solidFill>
            <a:srgbClr val="E10098"/>
          </a:solidFill>
          <a:ln w="12700">
            <a:solidFill>
              <a:srgbClr val="E10098"/>
            </a:solidFill>
            <a:prstDash val="solid"/>
          </a:ln>
        </p:spPr>
      </p:sp>
      <p:pic>
        <p:nvPicPr>
          <p:cNvPr id="8" name="row2|52" descr="Ver">    </p:cNvPr>
          <p:cNvPicPr>
            <a:picLocks noChangeAspect="1"/>
          </p:cNvPicPr>
          <p:nvPr/>
        </p:nvPicPr>
        <p:blipFill>
          <a:blip r:embed="rId2"/>
          <a:stretch>
            <a:fillRect/>
          </a:stretch>
        </p:blipFill>
        <p:spPr>
          <a:xfrm>
            <a:off x="868680" y="3383280"/>
            <a:ext cx="320040" cy="320040"/>
          </a:xfrm>
          <a:prstGeom prst="rect">
            <a:avLst/>
          </a:prstGeom>
        </p:spPr>
      </p:pic>
      <p:sp>
        <p:nvSpPr>
          <p:cNvPr id="9" name="row2|53"/>
          <p:cNvSpPr txBox="1"/>
          <p:nvPr/>
        </p:nvSpPr>
        <p:spPr>
          <a:xfrm>
            <a:off x="1645920" y="3136392"/>
            <a:ext cx="3931920" cy="457200"/>
          </a:xfrm>
          <a:prstGeom prst="rect">
            <a:avLst/>
          </a:prstGeom>
          <a:noFill/>
          <a:ln/>
        </p:spPr>
        <p:txBody>
          <a:bodyPr wrap="square" lIns="0" tIns="0" rIns="0" bIns="0" rtlCol="0" anchor="t"/>
          <a:lstStyle/>
          <a:p>
            <a:pPr indent="0" marL="0">
              <a:buNone/>
            </a:pPr>
            <a:r>
              <a:rPr lang="en-US" sz="2400" b="1" dirty="0">
                <a:solidFill>
                  <a:srgbClr val="A30071"/>
                </a:solidFill>
                <a:latin typeface="Arial" pitchFamily="34" charset="0"/>
                <a:ea typeface="Arial" pitchFamily="34" charset="-122"/>
                <a:cs typeface="Arial" pitchFamily="34" charset="-120"/>
              </a:rPr>
              <a:t>Ver</a:t>
            </a:r>
            <a:endParaRPr lang="en-US" sz="2400" dirty="0"/>
          </a:p>
        </p:txBody>
      </p:sp>
      <p:sp>
        <p:nvSpPr>
          <p:cNvPr id="10" name="row2|54"/>
          <p:cNvSpPr txBox="1"/>
          <p:nvPr/>
        </p:nvSpPr>
        <p:spPr>
          <a:xfrm>
            <a:off x="1645920" y="3566160"/>
            <a:ext cx="4023360" cy="868680"/>
          </a:xfrm>
          <a:prstGeom prst="rect">
            <a:avLst/>
          </a:prstGeom>
          <a:noFill/>
          <a:ln/>
        </p:spPr>
        <p:txBody>
          <a:bodyPr wrap="square" lIns="0" tIns="0" rIns="0" bIns="0" rtlCol="0" anchor="t"/>
          <a:lstStyle/>
          <a:p>
            <a:pPr indent="0" marL="0">
              <a:buNone/>
            </a:pPr>
            <a:r>
              <a:rPr lang="en-US" sz="1500" dirty="0">
                <a:solidFill>
                  <a:srgbClr val="000000"/>
                </a:solidFill>
                <a:latin typeface="Arial" pitchFamily="34" charset="0"/>
                <a:ea typeface="Arial" pitchFamily="34" charset="-122"/>
                <a:cs typeface="Arial" pitchFamily="34" charset="-120"/>
              </a:rPr>
              <a:t>Cada etapa tiene dueño y un semáforo de tiempos en días hábiles. El retraso deja de ser invisible.</a:t>
            </a:r>
            <a:endParaRPr lang="en-US" sz="1500" dirty="0"/>
          </a:p>
        </p:txBody>
      </p:sp>
      <p:sp>
        <p:nvSpPr>
          <p:cNvPr id="11" name="row3|55"/>
          <p:cNvSpPr/>
          <p:nvPr/>
        </p:nvSpPr>
        <p:spPr>
          <a:xfrm>
            <a:off x="640080" y="4526280"/>
            <a:ext cx="777240" cy="777240"/>
          </a:xfrm>
          <a:prstGeom prst="ellipse">
            <a:avLst/>
          </a:prstGeom>
          <a:solidFill>
            <a:srgbClr val="E10098"/>
          </a:solidFill>
          <a:ln w="12700">
            <a:solidFill>
              <a:srgbClr val="E10098"/>
            </a:solidFill>
            <a:prstDash val="solid"/>
          </a:ln>
        </p:spPr>
      </p:sp>
      <p:pic>
        <p:nvPicPr>
          <p:cNvPr id="12" name="row3|56" descr="Decidir">    </p:cNvPr>
          <p:cNvPicPr>
            <a:picLocks noChangeAspect="1"/>
          </p:cNvPicPr>
          <p:nvPr/>
        </p:nvPicPr>
        <p:blipFill>
          <a:blip r:embed="rId3"/>
          <a:stretch>
            <a:fillRect/>
          </a:stretch>
        </p:blipFill>
        <p:spPr>
          <a:xfrm>
            <a:off x="868680" y="4754880"/>
            <a:ext cx="320040" cy="320040"/>
          </a:xfrm>
          <a:prstGeom prst="rect">
            <a:avLst/>
          </a:prstGeom>
        </p:spPr>
      </p:pic>
      <p:sp>
        <p:nvSpPr>
          <p:cNvPr id="13" name="row3|57"/>
          <p:cNvSpPr txBox="1"/>
          <p:nvPr/>
        </p:nvSpPr>
        <p:spPr>
          <a:xfrm>
            <a:off x="1645920" y="4507992"/>
            <a:ext cx="3931920" cy="457200"/>
          </a:xfrm>
          <a:prstGeom prst="rect">
            <a:avLst/>
          </a:prstGeom>
          <a:noFill/>
          <a:ln/>
        </p:spPr>
        <p:txBody>
          <a:bodyPr wrap="square" lIns="0" tIns="0" rIns="0" bIns="0" rtlCol="0" anchor="t"/>
          <a:lstStyle/>
          <a:p>
            <a:pPr indent="0" marL="0">
              <a:buNone/>
            </a:pPr>
            <a:r>
              <a:rPr lang="en-US" sz="2400" b="1" dirty="0">
                <a:solidFill>
                  <a:srgbClr val="A30071"/>
                </a:solidFill>
                <a:latin typeface="Arial" pitchFamily="34" charset="0"/>
                <a:ea typeface="Arial" pitchFamily="34" charset="-122"/>
                <a:cs typeface="Arial" pitchFamily="34" charset="-120"/>
              </a:rPr>
              <a:t>Decidir</a:t>
            </a:r>
            <a:endParaRPr lang="en-US" sz="2400" dirty="0"/>
          </a:p>
        </p:txBody>
      </p:sp>
      <p:sp>
        <p:nvSpPr>
          <p:cNvPr id="14" name="row3|58"/>
          <p:cNvSpPr txBox="1"/>
          <p:nvPr/>
        </p:nvSpPr>
        <p:spPr>
          <a:xfrm>
            <a:off x="1645920" y="4937760"/>
            <a:ext cx="4023360" cy="868680"/>
          </a:xfrm>
          <a:prstGeom prst="rect">
            <a:avLst/>
          </a:prstGeom>
          <a:noFill/>
          <a:ln/>
        </p:spPr>
        <p:txBody>
          <a:bodyPr wrap="square" lIns="0" tIns="0" rIns="0" bIns="0" rtlCol="0" anchor="t"/>
          <a:lstStyle/>
          <a:p>
            <a:pPr indent="0" marL="0">
              <a:buNone/>
            </a:pPr>
            <a:r>
              <a:rPr lang="en-US" sz="1500" dirty="0">
                <a:solidFill>
                  <a:srgbClr val="000000"/>
                </a:solidFill>
                <a:latin typeface="Arial" pitchFamily="34" charset="0"/>
                <a:ea typeface="Arial" pitchFamily="34" charset="-122"/>
                <a:cs typeface="Arial" pitchFamily="34" charset="-120"/>
              </a:rPr>
              <a:t>Resumen de cada entrevista, comparativa de candidatos y un asistente con IA.</a:t>
            </a:r>
            <a:endParaRPr lang="en-US" sz="1500" dirty="0"/>
          </a:p>
        </p:txBody>
      </p:sp>
      <p:sp>
        <p:nvSpPr>
          <p:cNvPr id="15" name="scr6|59"/>
          <p:cNvSpPr/>
          <p:nvPr/>
        </p:nvSpPr>
        <p:spPr>
          <a:xfrm>
            <a:off x="5943600" y="1600200"/>
            <a:ext cx="5669280" cy="3899916"/>
          </a:xfrm>
          <a:prstGeom prst="roundRect">
            <a:avLst>
              <a:gd name="adj" fmla="val 3751"/>
            </a:avLst>
          </a:prstGeom>
          <a:solidFill>
            <a:srgbClr val="FFFFFF"/>
          </a:solidFill>
          <a:ln w="12700">
            <a:solidFill>
              <a:srgbClr val="E5E5E5"/>
            </a:solidFill>
            <a:prstDash val="solid"/>
          </a:ln>
          <a:effectLst>
            <a:outerShdw sx="100000" sy="100000" kx="0" ky="0" algn="bl" rotWithShape="0" blurRad="152400" dist="50800" dir="5400000">
              <a:srgbClr val="000000">
                <a:alpha val="16000"/>
              </a:srgbClr>
            </a:outerShdw>
          </a:effectLst>
        </p:spPr>
      </p:sp>
      <p:sp>
        <p:nvSpPr>
          <p:cNvPr id="16" name="scr6|60"/>
          <p:cNvSpPr/>
          <p:nvPr/>
        </p:nvSpPr>
        <p:spPr>
          <a:xfrm>
            <a:off x="6126480" y="1737360"/>
            <a:ext cx="109728" cy="109728"/>
          </a:xfrm>
          <a:prstGeom prst="ellipse">
            <a:avLst/>
          </a:prstGeom>
          <a:solidFill>
            <a:srgbClr val="E5E5E5"/>
          </a:solidFill>
          <a:ln w="12700">
            <a:solidFill>
              <a:srgbClr val="E5E5E5"/>
            </a:solidFill>
            <a:prstDash val="solid"/>
          </a:ln>
        </p:spPr>
      </p:sp>
      <p:sp>
        <p:nvSpPr>
          <p:cNvPr id="17" name="scr6|61"/>
          <p:cNvSpPr/>
          <p:nvPr/>
        </p:nvSpPr>
        <p:spPr>
          <a:xfrm>
            <a:off x="6309360" y="1737360"/>
            <a:ext cx="109728" cy="109728"/>
          </a:xfrm>
          <a:prstGeom prst="ellipse">
            <a:avLst/>
          </a:prstGeom>
          <a:solidFill>
            <a:srgbClr val="E5E5E5"/>
          </a:solidFill>
          <a:ln w="12700">
            <a:solidFill>
              <a:srgbClr val="E5E5E5"/>
            </a:solidFill>
            <a:prstDash val="solid"/>
          </a:ln>
        </p:spPr>
      </p:sp>
      <p:sp>
        <p:nvSpPr>
          <p:cNvPr id="18" name="scr6|62"/>
          <p:cNvSpPr/>
          <p:nvPr/>
        </p:nvSpPr>
        <p:spPr>
          <a:xfrm>
            <a:off x="6492240" y="1737360"/>
            <a:ext cx="109728" cy="109728"/>
          </a:xfrm>
          <a:prstGeom prst="ellipse">
            <a:avLst/>
          </a:prstGeom>
          <a:solidFill>
            <a:srgbClr val="E5E5E5"/>
          </a:solidFill>
          <a:ln w="12700">
            <a:solidFill>
              <a:srgbClr val="E5E5E5"/>
            </a:solidFill>
            <a:prstDash val="solid"/>
          </a:ln>
        </p:spPr>
      </p:sp>
      <p:pic>
        <p:nvPicPr>
          <p:cNvPr id="19" name="scr6|63" descr="Captura de Liver Companion: inicio del BP con semáforo por vacante">    </p:cNvPr>
          <p:cNvPicPr>
            <a:picLocks noChangeAspect="1"/>
          </p:cNvPicPr>
          <p:nvPr/>
        </p:nvPicPr>
        <p:blipFill>
          <a:blip r:embed="rId4"/>
          <a:stretch>
            <a:fillRect/>
          </a:stretch>
        </p:blipFill>
        <p:spPr>
          <a:xfrm>
            <a:off x="6053328" y="1984248"/>
            <a:ext cx="5449824" cy="3406140"/>
          </a:xfrm>
          <a:prstGeom prst="rect">
            <a:avLst/>
          </a:prstGeom>
        </p:spPr>
      </p:pic>
      <p:sp>
        <p:nvSpPr>
          <p:cNvPr id="20" name="fn6|64"/>
          <p:cNvSpPr txBox="1"/>
          <p:nvPr/>
        </p:nvSpPr>
        <p:spPr>
          <a:xfrm>
            <a:off x="640080" y="6172200"/>
            <a:ext cx="10881360" cy="274320"/>
          </a:xfrm>
          <a:prstGeom prst="rect">
            <a:avLst/>
          </a:prstGeom>
          <a:noFill/>
          <a:ln/>
        </p:spPr>
        <p:txBody>
          <a:bodyPr wrap="square" lIns="0" tIns="0" rIns="0" bIns="0" rtlCol="0" anchor="t"/>
          <a:lstStyle/>
          <a:p>
            <a:pPr indent="0" marL="0">
              <a:buNone/>
            </a:pPr>
            <a:r>
              <a:rPr lang="en-US" sz="1200" dirty="0">
                <a:solidFill>
                  <a:srgbClr val="8C8C8C"/>
                </a:solidFill>
                <a:latin typeface="Arial" pitchFamily="34" charset="0"/>
                <a:ea typeface="Arial" pitchFamily="34" charset="-122"/>
                <a:cs typeface="Arial" pitchFamily="34" charset="-120"/>
              </a:rPr>
              <a:t>Prototipo funcional. Integración con Google Workspace (Calendar y Meet) en el siguiente paso.</a:t>
            </a:r>
            <a:endParaRPr lang="en-US" sz="1200" dirty="0"/>
          </a:p>
        </p:txBody>
      </p:sp>
      <p:pic>
        <p:nvPicPr>
          <p:cNvPr id="21" name="logo|65" descr="Logo de Liverpool">    </p:cNvPr>
          <p:cNvPicPr>
            <a:picLocks noChangeAspect="1"/>
          </p:cNvPicPr>
          <p:nvPr/>
        </p:nvPicPr>
        <p:blipFill>
          <a:blip r:embed="rId5"/>
          <a:stretch>
            <a:fillRect/>
          </a:stretch>
        </p:blipFill>
        <p:spPr>
          <a:xfrm>
            <a:off x="10332720" y="6263640"/>
            <a:ext cx="1371600" cy="347878"/>
          </a:xfrm>
          <a:prstGeom prst="rect">
            <a:avLst/>
          </a:prstGeom>
        </p:spPr>
      </p:pic>
    </p:spTree>
  </p:cSld>
  <p:clrMapOvr>
    <a:masterClrMapping/>
  </p:clrMapOvr>
  <p:transition spd="fast">
    <p:fade/>
  </p:transition>
  <p:timing>
    <p:tnLst>
      <p:par>
        <p:cTn id="1" dur="indefinite" restart="never" nodeType="tmRoot">
          <p:childTnLst>
            <p:seq concurrent="1" nextAc="seek">
              <p:cTn id="2" dur="indefinite" nodeType="mainSeq">
                <p:childTnLst>
                  <p:par>
                    <p:cTn id="24" fill="hold">
                      <p:stCondLst>
                        <p:cond delay="indefinite"/>
                      </p:stCondLst>
                      <p:childTnLst>
                        <p:par>
                          <p:cTn id="25" fill="hold">
                            <p:stCondLst>
                              <p:cond delay="0"/>
                            </p:stCondLst>
                            <p:childTnLst>
                              <p:par>
                                <p:cTn id="3" presetID="10" presetClass="entr" presetSubtype="0" grpId="0" fill="hold" nodeType="click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175"/>
                                        <p:tgtEl>
                                          <p:spTgt spid="2"/>
                                        </p:tgtEl>
                                      </p:cBhvr>
                                    </p:animEffect>
                                  </p:childTnLst>
                                </p:cTn>
                              </p:par>
                              <p:par>
                                <p:cTn id="6" presetID="10" presetClass="entr" presetSubtype="0" grpId="0" fill="hold" nodeType="withEffect">
                                  <p:stCondLst>
                                    <p:cond delay="36"/>
                                  </p:stCondLst>
                                  <p:childTnLst>
                                    <p:set>
                                      <p:cBhvr>
                                        <p:cTn id="7" dur="1" fill="hold">
                                          <p:stCondLst>
                                            <p:cond delay="0"/>
                                          </p:stCondLst>
                                        </p:cTn>
                                        <p:tgtEl>
                                          <p:spTgt spid="15"/>
                                        </p:tgtEl>
                                        <p:attrNameLst>
                                          <p:attrName>style.visibility</p:attrName>
                                        </p:attrNameLst>
                                      </p:cBhvr>
                                      <p:to>
                                        <p:strVal val="visible"/>
                                      </p:to>
                                    </p:set>
                                    <p:animEffect transition="in" filter="fade">
                                      <p:cBhvr>
                                        <p:cTn id="8" dur="180"/>
                                        <p:tgtEl>
                                          <p:spTgt spid="15"/>
                                        </p:tgtEl>
                                      </p:cBhvr>
                                    </p:animEffect>
                                  </p:childTnLst>
                                </p:cTn>
                              </p:par>
                              <p:par>
                                <p:cTn id="9" presetID="10" presetClass="entr" presetSubtype="0" grpId="0" fill="hold" nodeType="withEffect">
                                  <p:stCondLst>
                                    <p:cond delay="36"/>
                                  </p:stCondLst>
                                  <p:childTnLst>
                                    <p:set>
                                      <p:cBhvr>
                                        <p:cTn id="10" dur="1" fill="hold">
                                          <p:stCondLst>
                                            <p:cond delay="0"/>
                                          </p:stCondLst>
                                        </p:cTn>
                                        <p:tgtEl>
                                          <p:spTgt spid="16"/>
                                        </p:tgtEl>
                                        <p:attrNameLst>
                                          <p:attrName>style.visibility</p:attrName>
                                        </p:attrNameLst>
                                      </p:cBhvr>
                                      <p:to>
                                        <p:strVal val="visible"/>
                                      </p:to>
                                    </p:set>
                                    <p:animEffect transition="in" filter="fade">
                                      <p:cBhvr>
                                        <p:cTn id="11" dur="180"/>
                                        <p:tgtEl>
                                          <p:spTgt spid="16"/>
                                        </p:tgtEl>
                                      </p:cBhvr>
                                    </p:animEffect>
                                  </p:childTnLst>
                                </p:cTn>
                              </p:par>
                              <p:par>
                                <p:cTn id="12" presetID="10" presetClass="entr" presetSubtype="0" grpId="0" fill="hold" nodeType="withEffect">
                                  <p:stCondLst>
                                    <p:cond delay="36"/>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180"/>
                                        <p:tgtEl>
                                          <p:spTgt spid="17"/>
                                        </p:tgtEl>
                                      </p:cBhvr>
                                    </p:animEffect>
                                  </p:childTnLst>
                                </p:cTn>
                              </p:par>
                              <p:par>
                                <p:cTn id="15" presetID="10" presetClass="entr" presetSubtype="0" grpId="0" fill="hold" nodeType="withEffect">
                                  <p:stCondLst>
                                    <p:cond delay="36"/>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180"/>
                                        <p:tgtEl>
                                          <p:spTgt spid="18"/>
                                        </p:tgtEl>
                                      </p:cBhvr>
                                    </p:animEffect>
                                  </p:childTnLst>
                                </p:cTn>
                              </p:par>
                              <p:par>
                                <p:cTn id="18" presetID="10" presetClass="entr" presetSubtype="0" fill="hold" nodeType="withEffect">
                                  <p:stCondLst>
                                    <p:cond delay="36"/>
                                  </p:stCondLst>
                                  <p:childTnLst>
                                    <p:set>
                                      <p:cBhvr>
                                        <p:cTn id="19" dur="1" fill="hold">
                                          <p:stCondLst>
                                            <p:cond delay="0"/>
                                          </p:stCondLst>
                                        </p:cTn>
                                        <p:tgtEl>
                                          <p:spTgt spid="19"/>
                                        </p:tgtEl>
                                        <p:attrNameLst>
                                          <p:attrName>style.visibility</p:attrName>
                                        </p:attrNameLst>
                                      </p:cBhvr>
                                      <p:to>
                                        <p:strVal val="visible"/>
                                      </p:to>
                                    </p:set>
                                    <p:animEffect transition="in" filter="fade">
                                      <p:cBhvr>
                                        <p:cTn id="20" dur="180"/>
                                        <p:tgtEl>
                                          <p:spTgt spid="19"/>
                                        </p:tgtEl>
                                      </p:cBhvr>
                                    </p:animEffect>
                                  </p:childTnLst>
                                </p:cTn>
                              </p:par>
                              <p:par>
                                <p:cTn id="21" presetID="10" presetClass="entr" presetSubtype="0" grpId="0" fill="hold" nodeType="withEffect">
                                  <p:stCondLst>
                                    <p:cond delay="72"/>
                                  </p:stCondLst>
                                  <p:childTnLst>
                                    <p:set>
                                      <p:cBhvr>
                                        <p:cTn id="22" dur="1" fill="hold">
                                          <p:stCondLst>
                                            <p:cond delay="0"/>
                                          </p:stCondLst>
                                        </p:cTn>
                                        <p:tgtEl>
                                          <p:spTgt spid="20"/>
                                        </p:tgtEl>
                                        <p:attrNameLst>
                                          <p:attrName>style.visibility</p:attrName>
                                        </p:attrNameLst>
                                      </p:cBhvr>
                                      <p:to>
                                        <p:strVal val="visible"/>
                                      </p:to>
                                    </p:set>
                                    <p:animEffect transition="in" filter="fade">
                                      <p:cBhvr>
                                        <p:cTn id="23" dur="125"/>
                                        <p:tgtEl>
                                          <p:spTgt spid="20"/>
                                        </p:tgtEl>
                                      </p:cBhvr>
                                    </p:animEffect>
                                  </p:childTnLst>
                                </p:cTn>
                              </p:par>
                            </p:childTnLst>
                          </p:cTn>
                        </p:par>
                      </p:childTnLst>
                    </p:cTn>
                  </p:par>
                  <p:par>
                    <p:cTn id="62" fill="hold">
                      <p:stCondLst>
                        <p:cond delay="indefinite"/>
                      </p:stCondLst>
                      <p:childTnLst>
                        <p:par>
                          <p:cTn id="63" fill="hold">
                            <p:stCondLst>
                              <p:cond delay="0"/>
                            </p:stCondLst>
                            <p:childTnLst>
                              <p:par>
                                <p:cTn id="26" presetID="10" presetClass="entr" presetSubtype="0" grpId="0" fill="hold" nodeType="clickEffect">
                                  <p:stCondLst>
                                    <p:cond delay="0"/>
                                  </p:stCondLst>
                                  <p:childTnLst>
                                    <p:set>
                                      <p:cBhvr>
                                        <p:cTn id="27" dur="1" fill="hold">
                                          <p:stCondLst>
                                            <p:cond delay="0"/>
                                          </p:stCondLst>
                                        </p:cTn>
                                        <p:tgtEl>
                                          <p:spTgt spid="3"/>
                                        </p:tgtEl>
                                        <p:attrNameLst>
                                          <p:attrName>style.visibility</p:attrName>
                                        </p:attrNameLst>
                                      </p:cBhvr>
                                      <p:to>
                                        <p:strVal val="visible"/>
                                      </p:to>
                                    </p:set>
                                    <p:animEffect transition="in" filter="fade">
                                      <p:cBhvr>
                                        <p:cTn id="28" dur="150"/>
                                        <p:tgtEl>
                                          <p:spTgt spid="3"/>
                                        </p:tgtEl>
                                      </p:cBhvr>
                                    </p:animEffect>
                                  </p:childTnLst>
                                </p:cTn>
                              </p:par>
                              <p:par>
                                <p:cTn id="29" presetID="10" presetClass="entr" presetSubtype="0" fill="hold" nodeType="withEffect">
                                  <p:stCondLst>
                                    <p:cond delay="0"/>
                                  </p:stCondLst>
                                  <p:childTnLst>
                                    <p:set>
                                      <p:cBhvr>
                                        <p:cTn id="30" dur="1" fill="hold">
                                          <p:stCondLst>
                                            <p:cond delay="0"/>
                                          </p:stCondLst>
                                        </p:cTn>
                                        <p:tgtEl>
                                          <p:spTgt spid="4"/>
                                        </p:tgtEl>
                                        <p:attrNameLst>
                                          <p:attrName>style.visibility</p:attrName>
                                        </p:attrNameLst>
                                      </p:cBhvr>
                                      <p:to>
                                        <p:strVal val="visible"/>
                                      </p:to>
                                    </p:set>
                                    <p:animEffect transition="in" filter="fade">
                                      <p:cBhvr>
                                        <p:cTn id="31" dur="150"/>
                                        <p:tgtEl>
                                          <p:spTgt spid="4"/>
                                        </p:tgtEl>
                                      </p:cBhvr>
                                    </p:animEffect>
                                  </p:childTnLst>
                                </p:cTn>
                              </p:par>
                              <p:par>
                                <p:cTn id="32" presetID="10" presetClass="entr" presetSubtype="0" grpId="0" fill="hold" nodeType="withEffect">
                                  <p:stCondLst>
                                    <p:cond delay="0"/>
                                  </p:stCondLst>
                                  <p:childTnLst>
                                    <p:set>
                                      <p:cBhvr>
                                        <p:cTn id="33" dur="1" fill="hold">
                                          <p:stCondLst>
                                            <p:cond delay="0"/>
                                          </p:stCondLst>
                                        </p:cTn>
                                        <p:tgtEl>
                                          <p:spTgt spid="5"/>
                                        </p:tgtEl>
                                        <p:attrNameLst>
                                          <p:attrName>style.visibility</p:attrName>
                                        </p:attrNameLst>
                                      </p:cBhvr>
                                      <p:to>
                                        <p:strVal val="visible"/>
                                      </p:to>
                                    </p:set>
                                    <p:animEffect transition="in" filter="fade">
                                      <p:cBhvr>
                                        <p:cTn id="34" dur="150"/>
                                        <p:tgtEl>
                                          <p:spTgt spid="5"/>
                                        </p:tgtEl>
                                      </p:cBhvr>
                                    </p:animEffect>
                                  </p:childTnLst>
                                </p:cTn>
                              </p:par>
                              <p:par>
                                <p:cTn id="35" presetID="10" presetClass="entr" presetSubtype="0" grpId="0" fill="hold" nodeType="with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fade">
                                      <p:cBhvr>
                                        <p:cTn id="37" dur="150"/>
                                        <p:tgtEl>
                                          <p:spTgt spid="6"/>
                                        </p:tgtEl>
                                      </p:cBhvr>
                                    </p:animEffect>
                                  </p:childTnLst>
                                </p:cTn>
                              </p:par>
                              <p:par>
                                <p:cTn id="38" presetID="10" presetClass="entr" presetSubtype="0" grpId="0" fill="hold" nodeType="withEffect">
                                  <p:stCondLst>
                                    <p:cond delay="144"/>
                                  </p:stCondLst>
                                  <p:childTnLst>
                                    <p:set>
                                      <p:cBhvr>
                                        <p:cTn id="39" dur="1" fill="hold">
                                          <p:stCondLst>
                                            <p:cond delay="0"/>
                                          </p:stCondLst>
                                        </p:cTn>
                                        <p:tgtEl>
                                          <p:spTgt spid="7"/>
                                        </p:tgtEl>
                                        <p:attrNameLst>
                                          <p:attrName>style.visibility</p:attrName>
                                        </p:attrNameLst>
                                      </p:cBhvr>
                                      <p:to>
                                        <p:strVal val="visible"/>
                                      </p:to>
                                    </p:set>
                                    <p:animEffect transition="in" filter="fade">
                                      <p:cBhvr>
                                        <p:cTn id="40" dur="150"/>
                                        <p:tgtEl>
                                          <p:spTgt spid="7"/>
                                        </p:tgtEl>
                                      </p:cBhvr>
                                    </p:animEffect>
                                  </p:childTnLst>
                                </p:cTn>
                              </p:par>
                              <p:par>
                                <p:cTn id="41" presetID="10" presetClass="entr" presetSubtype="0" fill="hold" nodeType="withEffect">
                                  <p:stCondLst>
                                    <p:cond delay="144"/>
                                  </p:stCondLst>
                                  <p:childTnLst>
                                    <p:set>
                                      <p:cBhvr>
                                        <p:cTn id="42" dur="1" fill="hold">
                                          <p:stCondLst>
                                            <p:cond delay="0"/>
                                          </p:stCondLst>
                                        </p:cTn>
                                        <p:tgtEl>
                                          <p:spTgt spid="8"/>
                                        </p:tgtEl>
                                        <p:attrNameLst>
                                          <p:attrName>style.visibility</p:attrName>
                                        </p:attrNameLst>
                                      </p:cBhvr>
                                      <p:to>
                                        <p:strVal val="visible"/>
                                      </p:to>
                                    </p:set>
                                    <p:animEffect transition="in" filter="fade">
                                      <p:cBhvr>
                                        <p:cTn id="43" dur="150"/>
                                        <p:tgtEl>
                                          <p:spTgt spid="8"/>
                                        </p:tgtEl>
                                      </p:cBhvr>
                                    </p:animEffect>
                                  </p:childTnLst>
                                </p:cTn>
                              </p:par>
                              <p:par>
                                <p:cTn id="44" presetID="10" presetClass="entr" presetSubtype="0" grpId="0" fill="hold" nodeType="withEffect">
                                  <p:stCondLst>
                                    <p:cond delay="144"/>
                                  </p:stCondLst>
                                  <p:childTnLst>
                                    <p:set>
                                      <p:cBhvr>
                                        <p:cTn id="45" dur="1" fill="hold">
                                          <p:stCondLst>
                                            <p:cond delay="0"/>
                                          </p:stCondLst>
                                        </p:cTn>
                                        <p:tgtEl>
                                          <p:spTgt spid="9"/>
                                        </p:tgtEl>
                                        <p:attrNameLst>
                                          <p:attrName>style.visibility</p:attrName>
                                        </p:attrNameLst>
                                      </p:cBhvr>
                                      <p:to>
                                        <p:strVal val="visible"/>
                                      </p:to>
                                    </p:set>
                                    <p:animEffect transition="in" filter="fade">
                                      <p:cBhvr>
                                        <p:cTn id="46" dur="150"/>
                                        <p:tgtEl>
                                          <p:spTgt spid="9"/>
                                        </p:tgtEl>
                                      </p:cBhvr>
                                    </p:animEffect>
                                  </p:childTnLst>
                                </p:cTn>
                              </p:par>
                              <p:par>
                                <p:cTn id="47" presetID="10" presetClass="entr" presetSubtype="0" grpId="0" fill="hold" nodeType="withEffect">
                                  <p:stCondLst>
                                    <p:cond delay="144"/>
                                  </p:stCondLst>
                                  <p:childTnLst>
                                    <p:set>
                                      <p:cBhvr>
                                        <p:cTn id="48" dur="1" fill="hold">
                                          <p:stCondLst>
                                            <p:cond delay="0"/>
                                          </p:stCondLst>
                                        </p:cTn>
                                        <p:tgtEl>
                                          <p:spTgt spid="10"/>
                                        </p:tgtEl>
                                        <p:attrNameLst>
                                          <p:attrName>style.visibility</p:attrName>
                                        </p:attrNameLst>
                                      </p:cBhvr>
                                      <p:to>
                                        <p:strVal val="visible"/>
                                      </p:to>
                                    </p:set>
                                    <p:animEffect transition="in" filter="fade">
                                      <p:cBhvr>
                                        <p:cTn id="49" dur="150"/>
                                        <p:tgtEl>
                                          <p:spTgt spid="10"/>
                                        </p:tgtEl>
                                      </p:cBhvr>
                                    </p:animEffect>
                                  </p:childTnLst>
                                </p:cTn>
                              </p:par>
                              <p:par>
                                <p:cTn id="50" presetID="10" presetClass="entr" presetSubtype="0" grpId="0" fill="hold" nodeType="withEffect">
                                  <p:stCondLst>
                                    <p:cond delay="288"/>
                                  </p:stCondLst>
                                  <p:childTnLst>
                                    <p:set>
                                      <p:cBhvr>
                                        <p:cTn id="51" dur="1" fill="hold">
                                          <p:stCondLst>
                                            <p:cond delay="0"/>
                                          </p:stCondLst>
                                        </p:cTn>
                                        <p:tgtEl>
                                          <p:spTgt spid="11"/>
                                        </p:tgtEl>
                                        <p:attrNameLst>
                                          <p:attrName>style.visibility</p:attrName>
                                        </p:attrNameLst>
                                      </p:cBhvr>
                                      <p:to>
                                        <p:strVal val="visible"/>
                                      </p:to>
                                    </p:set>
                                    <p:animEffect transition="in" filter="fade">
                                      <p:cBhvr>
                                        <p:cTn id="52" dur="150"/>
                                        <p:tgtEl>
                                          <p:spTgt spid="11"/>
                                        </p:tgtEl>
                                      </p:cBhvr>
                                    </p:animEffect>
                                  </p:childTnLst>
                                </p:cTn>
                              </p:par>
                              <p:par>
                                <p:cTn id="53" presetID="10" presetClass="entr" presetSubtype="0" fill="hold" nodeType="withEffect">
                                  <p:stCondLst>
                                    <p:cond delay="288"/>
                                  </p:stCondLst>
                                  <p:childTnLst>
                                    <p:set>
                                      <p:cBhvr>
                                        <p:cTn id="54" dur="1" fill="hold">
                                          <p:stCondLst>
                                            <p:cond delay="0"/>
                                          </p:stCondLst>
                                        </p:cTn>
                                        <p:tgtEl>
                                          <p:spTgt spid="12"/>
                                        </p:tgtEl>
                                        <p:attrNameLst>
                                          <p:attrName>style.visibility</p:attrName>
                                        </p:attrNameLst>
                                      </p:cBhvr>
                                      <p:to>
                                        <p:strVal val="visible"/>
                                      </p:to>
                                    </p:set>
                                    <p:animEffect transition="in" filter="fade">
                                      <p:cBhvr>
                                        <p:cTn id="55" dur="150"/>
                                        <p:tgtEl>
                                          <p:spTgt spid="12"/>
                                        </p:tgtEl>
                                      </p:cBhvr>
                                    </p:animEffect>
                                  </p:childTnLst>
                                </p:cTn>
                              </p:par>
                              <p:par>
                                <p:cTn id="56" presetID="10" presetClass="entr" presetSubtype="0" grpId="0" fill="hold" nodeType="withEffect">
                                  <p:stCondLst>
                                    <p:cond delay="288"/>
                                  </p:stCondLst>
                                  <p:childTnLst>
                                    <p:set>
                                      <p:cBhvr>
                                        <p:cTn id="57" dur="1" fill="hold">
                                          <p:stCondLst>
                                            <p:cond delay="0"/>
                                          </p:stCondLst>
                                        </p:cTn>
                                        <p:tgtEl>
                                          <p:spTgt spid="13"/>
                                        </p:tgtEl>
                                        <p:attrNameLst>
                                          <p:attrName>style.visibility</p:attrName>
                                        </p:attrNameLst>
                                      </p:cBhvr>
                                      <p:to>
                                        <p:strVal val="visible"/>
                                      </p:to>
                                    </p:set>
                                    <p:animEffect transition="in" filter="fade">
                                      <p:cBhvr>
                                        <p:cTn id="58" dur="150"/>
                                        <p:tgtEl>
                                          <p:spTgt spid="13"/>
                                        </p:tgtEl>
                                      </p:cBhvr>
                                    </p:animEffect>
                                  </p:childTnLst>
                                </p:cTn>
                              </p:par>
                              <p:par>
                                <p:cTn id="59" presetID="10" presetClass="entr" presetSubtype="0" grpId="0" fill="hold" nodeType="withEffect">
                                  <p:stCondLst>
                                    <p:cond delay="288"/>
                                  </p:stCondLst>
                                  <p:childTnLst>
                                    <p:set>
                                      <p:cBhvr>
                                        <p:cTn id="60" dur="1" fill="hold">
                                          <p:stCondLst>
                                            <p:cond delay="0"/>
                                          </p:stCondLst>
                                        </p:cTn>
                                        <p:tgtEl>
                                          <p:spTgt spid="14"/>
                                        </p:tgtEl>
                                        <p:attrNameLst>
                                          <p:attrName>style.visibility</p:attrName>
                                        </p:attrNameLst>
                                      </p:cBhvr>
                                      <p:to>
                                        <p:strVal val="visible"/>
                                      </p:to>
                                    </p:set>
                                    <p:animEffect transition="in" filter="fade">
                                      <p:cBhvr>
                                        <p:cTn id="61" dur="1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5" grpId="0" animBg="1"/>
      <p:bldP spid="16" grpId="0" animBg="1"/>
      <p:bldP spid="17" grpId="0" animBg="1"/>
      <p:bldP spid="18" grpId="0" animBg="1"/>
      <p:bldP spid="20" grpId="0"/>
      <p:bldP spid="3" grpId="0" animBg="1"/>
      <p:bldP spid="5" grpId="0"/>
      <p:bldP spid="6" grpId="0"/>
      <p:bldP spid="7" grpId="0" animBg="1"/>
      <p:bldP spid="9" grpId="0"/>
      <p:bldP spid="10" grpId="0"/>
      <p:bldP spid="11" grpId="0" animBg="1"/>
      <p:bldP spid="13" grpId="0"/>
      <p:bldP spid="14" grpId="0"/>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bdg|66"/>
          <p:cNvSpPr/>
          <p:nvPr/>
        </p:nvSpPr>
        <p:spPr>
          <a:xfrm>
            <a:off x="640080" y="548640"/>
            <a:ext cx="2743200" cy="457200"/>
          </a:xfrm>
          <a:prstGeom prst="roundRect">
            <a:avLst>
              <a:gd name="adj" fmla="val 50000"/>
            </a:avLst>
          </a:prstGeom>
          <a:solidFill>
            <a:srgbClr val="E10098"/>
          </a:solidFill>
          <a:ln w="12700">
            <a:solidFill>
              <a:srgbClr val="E10098"/>
            </a:solidFill>
            <a:prstDash val="solid"/>
          </a:ln>
        </p:spPr>
      </p:sp>
      <p:sp>
        <p:nvSpPr>
          <p:cNvPr id="3" name="bdg|67"/>
          <p:cNvSpPr txBox="1"/>
          <p:nvPr/>
        </p:nvSpPr>
        <p:spPr>
          <a:xfrm>
            <a:off x="640080" y="548640"/>
            <a:ext cx="2743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DEMO EN VIVO · 2 MIN</a:t>
            </a:r>
            <a:endParaRPr lang="en-US" sz="1400" dirty="0"/>
          </a:p>
        </p:txBody>
      </p:sp>
      <p:sp>
        <p:nvSpPr>
          <p:cNvPr id="4" name="tt7|68"/>
          <p:cNvSpPr txBox="1"/>
          <p:nvPr/>
        </p:nvSpPr>
        <p:spPr>
          <a:xfrm>
            <a:off x="640080" y="1188720"/>
            <a:ext cx="10972800" cy="868680"/>
          </a:xfrm>
          <a:prstGeom prst="rect">
            <a:avLst/>
          </a:prstGeom>
          <a:noFill/>
          <a:ln/>
        </p:spPr>
        <p:txBody>
          <a:bodyPr wrap="square" lIns="0" tIns="0" rIns="0" bIns="0" rtlCol="0" anchor="t"/>
          <a:lstStyle/>
          <a:p>
            <a:pPr indent="0" marL="0">
              <a:buNone/>
            </a:pPr>
            <a:r>
              <a:rPr lang="en-US" sz="5000" b="1" dirty="0">
                <a:solidFill>
                  <a:srgbClr val="000000"/>
                </a:solidFill>
                <a:latin typeface="Arial" pitchFamily="34" charset="0"/>
                <a:ea typeface="Arial" pitchFamily="34" charset="-122"/>
                <a:cs typeface="Arial" pitchFamily="34" charset="-120"/>
              </a:rPr>
              <a:t>Sigamos a </a:t>
            </a:r>
            <a:pPr indent="0" marL="0">
              <a:buNone/>
            </a:pPr>
            <a:r>
              <a:rPr lang="en-US" sz="5000" b="1" dirty="0">
                <a:solidFill>
                  <a:srgbClr val="E10098"/>
                </a:solidFill>
                <a:latin typeface="Arial" pitchFamily="34" charset="0"/>
                <a:ea typeface="Arial" pitchFamily="34" charset="-122"/>
                <a:cs typeface="Arial" pitchFamily="34" charset="-120"/>
              </a:rPr>
              <a:t>Mariana.</a:t>
            </a:r>
            <a:endParaRPr lang="en-US" sz="5000" dirty="0"/>
          </a:p>
        </p:txBody>
      </p:sp>
      <p:sp>
        <p:nvSpPr>
          <p:cNvPr id="5" name="st1|69"/>
          <p:cNvSpPr/>
          <p:nvPr/>
        </p:nvSpPr>
        <p:spPr>
          <a:xfrm>
            <a:off x="640080" y="2194560"/>
            <a:ext cx="2514600" cy="3520440"/>
          </a:xfrm>
          <a:prstGeom prst="roundRect">
            <a:avLst>
              <a:gd name="adj" fmla="val 7273"/>
            </a:avLst>
          </a:prstGeom>
          <a:solidFill>
            <a:srgbClr val="FFFFFF"/>
          </a:solidFill>
          <a:ln w="15875">
            <a:solidFill>
              <a:srgbClr val="E5E5E5"/>
            </a:solidFill>
            <a:prstDash val="solid"/>
          </a:ln>
          <a:effectLst>
            <a:outerShdw sx="100000" sy="100000" kx="0" ky="0" algn="bl" rotWithShape="0" blurRad="152400" dist="50800" dir="5400000">
              <a:srgbClr val="000000">
                <a:alpha val="16000"/>
              </a:srgbClr>
            </a:outerShdw>
          </a:effectLst>
        </p:spPr>
      </p:sp>
      <p:sp>
        <p:nvSpPr>
          <p:cNvPr id="6" name="st1|70"/>
          <p:cNvSpPr/>
          <p:nvPr/>
        </p:nvSpPr>
        <p:spPr>
          <a:xfrm>
            <a:off x="868680" y="2423160"/>
            <a:ext cx="548640" cy="548640"/>
          </a:xfrm>
          <a:prstGeom prst="ellipse">
            <a:avLst/>
          </a:prstGeom>
          <a:solidFill>
            <a:srgbClr val="E10098"/>
          </a:solidFill>
          <a:ln w="12700">
            <a:solidFill>
              <a:srgbClr val="E10098"/>
            </a:solidFill>
            <a:prstDash val="solid"/>
          </a:ln>
        </p:spPr>
      </p:sp>
      <p:sp>
        <p:nvSpPr>
          <p:cNvPr id="7" name="st1|71"/>
          <p:cNvSpPr txBox="1"/>
          <p:nvPr/>
        </p:nvSpPr>
        <p:spPr>
          <a:xfrm>
            <a:off x="868680" y="242316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1</a:t>
            </a:r>
            <a:endParaRPr lang="en-US" sz="2200" dirty="0"/>
          </a:p>
        </p:txBody>
      </p:sp>
      <p:sp>
        <p:nvSpPr>
          <p:cNvPr id="8" name="st1|72"/>
          <p:cNvSpPr txBox="1"/>
          <p:nvPr/>
        </p:nvSpPr>
        <p:spPr>
          <a:xfrm>
            <a:off x="1554480" y="2450592"/>
            <a:ext cx="1508760" cy="502920"/>
          </a:xfrm>
          <a:prstGeom prst="rect">
            <a:avLst/>
          </a:prstGeom>
          <a:noFill/>
          <a:ln/>
        </p:spPr>
        <p:txBody>
          <a:bodyPr wrap="square" lIns="0" tIns="0" rIns="0" bIns="0" rtlCol="0" anchor="ctr"/>
          <a:lstStyle/>
          <a:p>
            <a:pPr indent="0" marL="0">
              <a:buNone/>
            </a:pPr>
            <a:r>
              <a:rPr lang="en-US" sz="1600" b="1" dirty="0">
                <a:solidFill>
                  <a:srgbClr val="A30071"/>
                </a:solidFill>
                <a:latin typeface="Arial" pitchFamily="34" charset="0"/>
                <a:ea typeface="Arial" pitchFamily="34" charset="-122"/>
                <a:cs typeface="Arial" pitchFamily="34" charset="-120"/>
              </a:rPr>
              <a:t>Hiring Manager</a:t>
            </a:r>
            <a:endParaRPr lang="en-US" sz="1600" dirty="0"/>
          </a:p>
        </p:txBody>
      </p:sp>
      <p:sp>
        <p:nvSpPr>
          <p:cNvPr id="9" name="st1|73"/>
          <p:cNvSpPr txBox="1"/>
          <p:nvPr/>
        </p:nvSpPr>
        <p:spPr>
          <a:xfrm>
            <a:off x="868680" y="3108960"/>
            <a:ext cx="2103120" cy="685800"/>
          </a:xfrm>
          <a:prstGeom prst="rect">
            <a:avLst/>
          </a:prstGeom>
          <a:noFill/>
          <a:ln/>
        </p:spPr>
        <p:txBody>
          <a:bodyPr wrap="square" lIns="0" tIns="0" rIns="0" bIns="0" rtlCol="0" anchor="t"/>
          <a:lstStyle/>
          <a:p>
            <a:pPr indent="0" marL="0">
              <a:buNone/>
            </a:pPr>
            <a:r>
              <a:rPr lang="en-US" sz="1400" dirty="0">
                <a:solidFill>
                  <a:srgbClr val="000000"/>
                </a:solidFill>
                <a:latin typeface="Arial" pitchFamily="34" charset="0"/>
                <a:ea typeface="Arial" pitchFamily="34" charset="-122"/>
                <a:cs typeface="Arial" pitchFamily="34" charset="-120"/>
              </a:rPr>
              <a:t>Captura la requisición: lo que necesita.</a:t>
            </a:r>
            <a:endParaRPr lang="en-US" sz="1400" dirty="0"/>
          </a:p>
        </p:txBody>
      </p:sp>
      <p:sp>
        <p:nvSpPr>
          <p:cNvPr id="10" name="st1|74"/>
          <p:cNvSpPr/>
          <p:nvPr/>
        </p:nvSpPr>
        <p:spPr>
          <a:xfrm>
            <a:off x="822960" y="3931920"/>
            <a:ext cx="2148840" cy="1463040"/>
          </a:xfrm>
          <a:prstGeom prst="roundRect">
            <a:avLst>
              <a:gd name="adj" fmla="val 6250"/>
            </a:avLst>
          </a:prstGeom>
          <a:solidFill>
            <a:srgbClr val="F2F2F2"/>
          </a:solidFill>
          <a:ln w="12700">
            <a:solidFill>
              <a:srgbClr val="E5E5E5"/>
            </a:solidFill>
            <a:prstDash val="solid"/>
          </a:ln>
        </p:spPr>
      </p:sp>
      <p:pic>
        <p:nvPicPr>
          <p:cNvPr id="11" name="st1|75" descr="Pantalla: Captura la requisición: lo que necesita.">    </p:cNvPr>
          <p:cNvPicPr>
            <a:picLocks noChangeAspect="1"/>
          </p:cNvPicPr>
          <p:nvPr/>
        </p:nvPicPr>
        <p:blipFill>
          <a:blip r:embed="rId1"/>
          <a:srcRect l="0" r="0" t="0" b="0"/>
          <a:stretch/>
        </p:blipFill>
        <p:spPr>
          <a:xfrm>
            <a:off x="868680" y="3977640"/>
            <a:ext cx="2057400" cy="1371600"/>
          </a:xfrm>
          <a:prstGeom prst="rect">
            <a:avLst/>
          </a:prstGeom>
        </p:spPr>
      </p:pic>
      <p:sp>
        <p:nvSpPr>
          <p:cNvPr id="12" name="st2|76"/>
          <p:cNvSpPr/>
          <p:nvPr/>
        </p:nvSpPr>
        <p:spPr>
          <a:xfrm>
            <a:off x="3429000" y="2194560"/>
            <a:ext cx="2514600" cy="3520440"/>
          </a:xfrm>
          <a:prstGeom prst="roundRect">
            <a:avLst>
              <a:gd name="adj" fmla="val 7273"/>
            </a:avLst>
          </a:prstGeom>
          <a:solidFill>
            <a:srgbClr val="FFFFFF"/>
          </a:solidFill>
          <a:ln w="15875">
            <a:solidFill>
              <a:srgbClr val="E5E5E5"/>
            </a:solidFill>
            <a:prstDash val="solid"/>
          </a:ln>
          <a:effectLst>
            <a:outerShdw sx="100000" sy="100000" kx="0" ky="0" algn="bl" rotWithShape="0" blurRad="152400" dist="50800" dir="5400000">
              <a:srgbClr val="000000">
                <a:alpha val="16000"/>
              </a:srgbClr>
            </a:outerShdw>
          </a:effectLst>
        </p:spPr>
      </p:sp>
      <p:sp>
        <p:nvSpPr>
          <p:cNvPr id="13" name="st2|77"/>
          <p:cNvSpPr/>
          <p:nvPr/>
        </p:nvSpPr>
        <p:spPr>
          <a:xfrm>
            <a:off x="3657600" y="2423160"/>
            <a:ext cx="548640" cy="548640"/>
          </a:xfrm>
          <a:prstGeom prst="ellipse">
            <a:avLst/>
          </a:prstGeom>
          <a:solidFill>
            <a:srgbClr val="E10098"/>
          </a:solidFill>
          <a:ln w="12700">
            <a:solidFill>
              <a:srgbClr val="E10098"/>
            </a:solidFill>
            <a:prstDash val="solid"/>
          </a:ln>
        </p:spPr>
      </p:sp>
      <p:sp>
        <p:nvSpPr>
          <p:cNvPr id="14" name="st2|78"/>
          <p:cNvSpPr txBox="1"/>
          <p:nvPr/>
        </p:nvSpPr>
        <p:spPr>
          <a:xfrm>
            <a:off x="3657600" y="242316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2</a:t>
            </a:r>
            <a:endParaRPr lang="en-US" sz="2200" dirty="0"/>
          </a:p>
        </p:txBody>
      </p:sp>
      <p:sp>
        <p:nvSpPr>
          <p:cNvPr id="15" name="st2|79"/>
          <p:cNvSpPr txBox="1"/>
          <p:nvPr/>
        </p:nvSpPr>
        <p:spPr>
          <a:xfrm>
            <a:off x="4343400" y="2450592"/>
            <a:ext cx="1508760" cy="502920"/>
          </a:xfrm>
          <a:prstGeom prst="rect">
            <a:avLst/>
          </a:prstGeom>
          <a:noFill/>
          <a:ln/>
        </p:spPr>
        <p:txBody>
          <a:bodyPr wrap="square" lIns="0" tIns="0" rIns="0" bIns="0" rtlCol="0" anchor="ctr"/>
          <a:lstStyle/>
          <a:p>
            <a:pPr indent="0" marL="0">
              <a:buNone/>
            </a:pPr>
            <a:r>
              <a:rPr lang="en-US" sz="1600" b="1" dirty="0">
                <a:solidFill>
                  <a:srgbClr val="A30071"/>
                </a:solidFill>
                <a:latin typeface="Arial" pitchFamily="34" charset="0"/>
                <a:ea typeface="Arial" pitchFamily="34" charset="-122"/>
                <a:cs typeface="Arial" pitchFamily="34" charset="-120"/>
              </a:rPr>
              <a:t>BP</a:t>
            </a:r>
            <a:endParaRPr lang="en-US" sz="1600" dirty="0"/>
          </a:p>
        </p:txBody>
      </p:sp>
      <p:sp>
        <p:nvSpPr>
          <p:cNvPr id="16" name="st2|80"/>
          <p:cNvSpPr txBox="1"/>
          <p:nvPr/>
        </p:nvSpPr>
        <p:spPr>
          <a:xfrm>
            <a:off x="3657600" y="3108960"/>
            <a:ext cx="2103120" cy="685800"/>
          </a:xfrm>
          <a:prstGeom prst="rect">
            <a:avLst/>
          </a:prstGeom>
          <a:noFill/>
          <a:ln/>
        </p:spPr>
        <p:txBody>
          <a:bodyPr wrap="square" lIns="0" tIns="0" rIns="0" bIns="0" rtlCol="0" anchor="t"/>
          <a:lstStyle/>
          <a:p>
            <a:pPr indent="0" marL="0">
              <a:buNone/>
            </a:pPr>
            <a:r>
              <a:rPr lang="en-US" sz="1400" dirty="0">
                <a:solidFill>
                  <a:srgbClr val="000000"/>
                </a:solidFill>
                <a:latin typeface="Arial" pitchFamily="34" charset="0"/>
                <a:ea typeface="Arial" pitchFamily="34" charset="-122"/>
                <a:cs typeface="Arial" pitchFamily="34" charset="-120"/>
              </a:rPr>
              <a:t>La valida y asigna al reclutador.</a:t>
            </a:r>
            <a:endParaRPr lang="en-US" sz="1400" dirty="0"/>
          </a:p>
        </p:txBody>
      </p:sp>
      <p:sp>
        <p:nvSpPr>
          <p:cNvPr id="17" name="st2|81"/>
          <p:cNvSpPr/>
          <p:nvPr/>
        </p:nvSpPr>
        <p:spPr>
          <a:xfrm>
            <a:off x="3611880" y="3931920"/>
            <a:ext cx="2148840" cy="1463040"/>
          </a:xfrm>
          <a:prstGeom prst="roundRect">
            <a:avLst>
              <a:gd name="adj" fmla="val 6250"/>
            </a:avLst>
          </a:prstGeom>
          <a:solidFill>
            <a:srgbClr val="F2F2F2"/>
          </a:solidFill>
          <a:ln w="12700">
            <a:solidFill>
              <a:srgbClr val="E5E5E5"/>
            </a:solidFill>
            <a:prstDash val="solid"/>
          </a:ln>
        </p:spPr>
      </p:sp>
      <p:pic>
        <p:nvPicPr>
          <p:cNvPr id="18" name="st2|82" descr="Pantalla: La valida y asigna al reclutador.">    </p:cNvPr>
          <p:cNvPicPr>
            <a:picLocks noChangeAspect="1"/>
          </p:cNvPicPr>
          <p:nvPr/>
        </p:nvPicPr>
        <p:blipFill>
          <a:blip r:embed="rId2"/>
          <a:srcRect l="0" r="0" t="0" b="0"/>
          <a:stretch/>
        </p:blipFill>
        <p:spPr>
          <a:xfrm>
            <a:off x="3657600" y="3977640"/>
            <a:ext cx="2057400" cy="1371600"/>
          </a:xfrm>
          <a:prstGeom prst="rect">
            <a:avLst/>
          </a:prstGeom>
        </p:spPr>
      </p:pic>
      <p:sp>
        <p:nvSpPr>
          <p:cNvPr id="19" name="st3|83"/>
          <p:cNvSpPr/>
          <p:nvPr/>
        </p:nvSpPr>
        <p:spPr>
          <a:xfrm>
            <a:off x="6217920" y="2194560"/>
            <a:ext cx="2514600" cy="3520440"/>
          </a:xfrm>
          <a:prstGeom prst="roundRect">
            <a:avLst>
              <a:gd name="adj" fmla="val 7273"/>
            </a:avLst>
          </a:prstGeom>
          <a:solidFill>
            <a:srgbClr val="FFFFFF"/>
          </a:solidFill>
          <a:ln w="15875">
            <a:solidFill>
              <a:srgbClr val="E5E5E5"/>
            </a:solidFill>
            <a:prstDash val="solid"/>
          </a:ln>
          <a:effectLst>
            <a:outerShdw sx="100000" sy="100000" kx="0" ky="0" algn="bl" rotWithShape="0" blurRad="152400" dist="50800" dir="5400000">
              <a:srgbClr val="000000">
                <a:alpha val="16000"/>
              </a:srgbClr>
            </a:outerShdw>
          </a:effectLst>
        </p:spPr>
      </p:sp>
      <p:sp>
        <p:nvSpPr>
          <p:cNvPr id="20" name="st3|84"/>
          <p:cNvSpPr/>
          <p:nvPr/>
        </p:nvSpPr>
        <p:spPr>
          <a:xfrm>
            <a:off x="6446520" y="2423160"/>
            <a:ext cx="548640" cy="548640"/>
          </a:xfrm>
          <a:prstGeom prst="ellipse">
            <a:avLst/>
          </a:prstGeom>
          <a:solidFill>
            <a:srgbClr val="E10098"/>
          </a:solidFill>
          <a:ln w="12700">
            <a:solidFill>
              <a:srgbClr val="E10098"/>
            </a:solidFill>
            <a:prstDash val="solid"/>
          </a:ln>
        </p:spPr>
      </p:sp>
      <p:sp>
        <p:nvSpPr>
          <p:cNvPr id="21" name="st3|85"/>
          <p:cNvSpPr txBox="1"/>
          <p:nvPr/>
        </p:nvSpPr>
        <p:spPr>
          <a:xfrm>
            <a:off x="6446520" y="242316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3</a:t>
            </a:r>
            <a:endParaRPr lang="en-US" sz="2200" dirty="0"/>
          </a:p>
        </p:txBody>
      </p:sp>
      <p:sp>
        <p:nvSpPr>
          <p:cNvPr id="22" name="st3|86"/>
          <p:cNvSpPr txBox="1"/>
          <p:nvPr/>
        </p:nvSpPr>
        <p:spPr>
          <a:xfrm>
            <a:off x="7132320" y="2450592"/>
            <a:ext cx="1508760" cy="502920"/>
          </a:xfrm>
          <a:prstGeom prst="rect">
            <a:avLst/>
          </a:prstGeom>
          <a:noFill/>
          <a:ln/>
        </p:spPr>
        <p:txBody>
          <a:bodyPr wrap="square" lIns="0" tIns="0" rIns="0" bIns="0" rtlCol="0" anchor="ctr"/>
          <a:lstStyle/>
          <a:p>
            <a:pPr indent="0" marL="0">
              <a:buNone/>
            </a:pPr>
            <a:r>
              <a:rPr lang="en-US" sz="1600" b="1" dirty="0">
                <a:solidFill>
                  <a:srgbClr val="A30071"/>
                </a:solidFill>
                <a:latin typeface="Arial" pitchFamily="34" charset="0"/>
                <a:ea typeface="Arial" pitchFamily="34" charset="-122"/>
                <a:cs typeface="Arial" pitchFamily="34" charset="-120"/>
              </a:rPr>
              <a:t>Reclutamiento</a:t>
            </a:r>
            <a:endParaRPr lang="en-US" sz="1600" dirty="0"/>
          </a:p>
        </p:txBody>
      </p:sp>
      <p:sp>
        <p:nvSpPr>
          <p:cNvPr id="23" name="st3|87"/>
          <p:cNvSpPr txBox="1"/>
          <p:nvPr/>
        </p:nvSpPr>
        <p:spPr>
          <a:xfrm>
            <a:off x="6446520" y="3108960"/>
            <a:ext cx="2103120" cy="685800"/>
          </a:xfrm>
          <a:prstGeom prst="rect">
            <a:avLst/>
          </a:prstGeom>
          <a:noFill/>
          <a:ln/>
        </p:spPr>
        <p:txBody>
          <a:bodyPr wrap="square" lIns="0" tIns="0" rIns="0" bIns="0" rtlCol="0" anchor="t"/>
          <a:lstStyle/>
          <a:p>
            <a:pPr indent="0" marL="0">
              <a:buNone/>
            </a:pPr>
            <a:r>
              <a:rPr lang="en-US" sz="1400" dirty="0">
                <a:solidFill>
                  <a:srgbClr val="000000"/>
                </a:solidFill>
                <a:latin typeface="Arial" pitchFamily="34" charset="0"/>
                <a:ea typeface="Arial" pitchFamily="34" charset="-122"/>
                <a:cs typeface="Arial" pitchFamily="34" charset="-120"/>
              </a:rPr>
              <a:t>Filtra, compara y agenda en Meet.</a:t>
            </a:r>
            <a:endParaRPr lang="en-US" sz="1400" dirty="0"/>
          </a:p>
        </p:txBody>
      </p:sp>
      <p:sp>
        <p:nvSpPr>
          <p:cNvPr id="24" name="st3|88"/>
          <p:cNvSpPr/>
          <p:nvPr/>
        </p:nvSpPr>
        <p:spPr>
          <a:xfrm>
            <a:off x="6400800" y="3931920"/>
            <a:ext cx="2148840" cy="1463040"/>
          </a:xfrm>
          <a:prstGeom prst="roundRect">
            <a:avLst>
              <a:gd name="adj" fmla="val 6250"/>
            </a:avLst>
          </a:prstGeom>
          <a:solidFill>
            <a:srgbClr val="F2F2F2"/>
          </a:solidFill>
          <a:ln w="12700">
            <a:solidFill>
              <a:srgbClr val="E5E5E5"/>
            </a:solidFill>
            <a:prstDash val="solid"/>
          </a:ln>
        </p:spPr>
      </p:sp>
      <p:pic>
        <p:nvPicPr>
          <p:cNvPr id="25" name="st3|89" descr="Pantalla: Filtra, compara y agenda en Meet.">    </p:cNvPr>
          <p:cNvPicPr>
            <a:picLocks noChangeAspect="1"/>
          </p:cNvPicPr>
          <p:nvPr/>
        </p:nvPicPr>
        <p:blipFill>
          <a:blip r:embed="rId3"/>
          <a:srcRect l="0" r="0" t="0" b="0"/>
          <a:stretch/>
        </p:blipFill>
        <p:spPr>
          <a:xfrm>
            <a:off x="6446520" y="3977640"/>
            <a:ext cx="2057400" cy="1371600"/>
          </a:xfrm>
          <a:prstGeom prst="rect">
            <a:avLst/>
          </a:prstGeom>
        </p:spPr>
      </p:pic>
      <p:sp>
        <p:nvSpPr>
          <p:cNvPr id="26" name="st4|90"/>
          <p:cNvSpPr/>
          <p:nvPr/>
        </p:nvSpPr>
        <p:spPr>
          <a:xfrm>
            <a:off x="9006840" y="2194560"/>
            <a:ext cx="2514600" cy="3520440"/>
          </a:xfrm>
          <a:prstGeom prst="roundRect">
            <a:avLst>
              <a:gd name="adj" fmla="val 7273"/>
            </a:avLst>
          </a:prstGeom>
          <a:solidFill>
            <a:srgbClr val="FFFFFF"/>
          </a:solidFill>
          <a:ln w="15875">
            <a:solidFill>
              <a:srgbClr val="E5E5E5"/>
            </a:solidFill>
            <a:prstDash val="solid"/>
          </a:ln>
          <a:effectLst>
            <a:outerShdw sx="100000" sy="100000" kx="0" ky="0" algn="bl" rotWithShape="0" blurRad="152400" dist="50800" dir="5400000">
              <a:srgbClr val="000000">
                <a:alpha val="16000"/>
              </a:srgbClr>
            </a:outerShdw>
          </a:effectLst>
        </p:spPr>
      </p:sp>
      <p:sp>
        <p:nvSpPr>
          <p:cNvPr id="27" name="st4|91"/>
          <p:cNvSpPr/>
          <p:nvPr/>
        </p:nvSpPr>
        <p:spPr>
          <a:xfrm>
            <a:off x="9235440" y="2423160"/>
            <a:ext cx="548640" cy="548640"/>
          </a:xfrm>
          <a:prstGeom prst="ellipse">
            <a:avLst/>
          </a:prstGeom>
          <a:solidFill>
            <a:srgbClr val="E10098"/>
          </a:solidFill>
          <a:ln w="12700">
            <a:solidFill>
              <a:srgbClr val="E10098"/>
            </a:solidFill>
            <a:prstDash val="solid"/>
          </a:ln>
        </p:spPr>
      </p:sp>
      <p:sp>
        <p:nvSpPr>
          <p:cNvPr id="28" name="st4|92"/>
          <p:cNvSpPr txBox="1"/>
          <p:nvPr/>
        </p:nvSpPr>
        <p:spPr>
          <a:xfrm>
            <a:off x="9235440" y="242316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4</a:t>
            </a:r>
            <a:endParaRPr lang="en-US" sz="2200" dirty="0"/>
          </a:p>
        </p:txBody>
      </p:sp>
      <p:sp>
        <p:nvSpPr>
          <p:cNvPr id="29" name="st4|93"/>
          <p:cNvSpPr txBox="1"/>
          <p:nvPr/>
        </p:nvSpPr>
        <p:spPr>
          <a:xfrm>
            <a:off x="9921240" y="2450592"/>
            <a:ext cx="1508760" cy="502920"/>
          </a:xfrm>
          <a:prstGeom prst="rect">
            <a:avLst/>
          </a:prstGeom>
          <a:noFill/>
          <a:ln/>
        </p:spPr>
        <p:txBody>
          <a:bodyPr wrap="square" lIns="0" tIns="0" rIns="0" bIns="0" rtlCol="0" anchor="ctr"/>
          <a:lstStyle/>
          <a:p>
            <a:pPr indent="0" marL="0">
              <a:buNone/>
            </a:pPr>
            <a:r>
              <a:rPr lang="en-US" sz="1600" b="1" dirty="0">
                <a:solidFill>
                  <a:srgbClr val="A30071"/>
                </a:solidFill>
                <a:latin typeface="Arial" pitchFamily="34" charset="0"/>
                <a:ea typeface="Arial" pitchFamily="34" charset="-122"/>
                <a:cs typeface="Arial" pitchFamily="34" charset="-120"/>
              </a:rPr>
              <a:t>Hiring Manager</a:t>
            </a:r>
            <a:endParaRPr lang="en-US" sz="1600" dirty="0"/>
          </a:p>
        </p:txBody>
      </p:sp>
      <p:sp>
        <p:nvSpPr>
          <p:cNvPr id="30" name="st4|94"/>
          <p:cNvSpPr txBox="1"/>
          <p:nvPr/>
        </p:nvSpPr>
        <p:spPr>
          <a:xfrm>
            <a:off x="9235440" y="3108960"/>
            <a:ext cx="2103120" cy="685800"/>
          </a:xfrm>
          <a:prstGeom prst="rect">
            <a:avLst/>
          </a:prstGeom>
          <a:noFill/>
          <a:ln/>
        </p:spPr>
        <p:txBody>
          <a:bodyPr wrap="square" lIns="0" tIns="0" rIns="0" bIns="0" rtlCol="0" anchor="t"/>
          <a:lstStyle/>
          <a:p>
            <a:pPr indent="0" marL="0">
              <a:buNone/>
            </a:pPr>
            <a:r>
              <a:rPr lang="en-US" sz="1400" dirty="0">
                <a:solidFill>
                  <a:srgbClr val="000000"/>
                </a:solidFill>
                <a:latin typeface="Arial" pitchFamily="34" charset="0"/>
                <a:ea typeface="Arial" pitchFamily="34" charset="-122"/>
                <a:cs typeface="Arial" pitchFamily="34" charset="-120"/>
              </a:rPr>
              <a:t>Decide con el resumen y el asistente.</a:t>
            </a:r>
            <a:endParaRPr lang="en-US" sz="1400" dirty="0"/>
          </a:p>
        </p:txBody>
      </p:sp>
      <p:sp>
        <p:nvSpPr>
          <p:cNvPr id="31" name="st4|95"/>
          <p:cNvSpPr/>
          <p:nvPr/>
        </p:nvSpPr>
        <p:spPr>
          <a:xfrm>
            <a:off x="9189720" y="3931920"/>
            <a:ext cx="2148840" cy="1463040"/>
          </a:xfrm>
          <a:prstGeom prst="roundRect">
            <a:avLst>
              <a:gd name="adj" fmla="val 6250"/>
            </a:avLst>
          </a:prstGeom>
          <a:solidFill>
            <a:srgbClr val="F2F2F2"/>
          </a:solidFill>
          <a:ln w="12700">
            <a:solidFill>
              <a:srgbClr val="E5E5E5"/>
            </a:solidFill>
            <a:prstDash val="solid"/>
          </a:ln>
        </p:spPr>
      </p:sp>
      <p:pic>
        <p:nvPicPr>
          <p:cNvPr id="32" name="st4|96" descr="Pantalla: Decide con el resumen y el asistente.">    </p:cNvPr>
          <p:cNvPicPr>
            <a:picLocks noChangeAspect="1"/>
          </p:cNvPicPr>
          <p:nvPr/>
        </p:nvPicPr>
        <p:blipFill>
          <a:blip r:embed="rId4"/>
          <a:srcRect l="0" r="0" t="0" b="0"/>
          <a:stretch/>
        </p:blipFill>
        <p:spPr>
          <a:xfrm>
            <a:off x="9235440" y="3977640"/>
            <a:ext cx="2057400" cy="1371600"/>
          </a:xfrm>
          <a:prstGeom prst="rect">
            <a:avLst/>
          </a:prstGeom>
        </p:spPr>
      </p:pic>
      <p:sp>
        <p:nvSpPr>
          <p:cNvPr id="33" name="end7|97"/>
          <p:cNvSpPr txBox="1"/>
          <p:nvPr/>
        </p:nvSpPr>
        <p:spPr>
          <a:xfrm>
            <a:off x="640080" y="5989320"/>
            <a:ext cx="10972800" cy="548640"/>
          </a:xfrm>
          <a:prstGeom prst="rect">
            <a:avLst/>
          </a:prstGeom>
          <a:noFill/>
          <a:ln/>
        </p:spPr>
        <p:txBody>
          <a:bodyPr wrap="square" lIns="0" tIns="0" rIns="0" bIns="0" rtlCol="0" anchor="t"/>
          <a:lstStyle/>
          <a:p>
            <a:pPr indent="0" marL="0">
              <a:buNone/>
            </a:pPr>
            <a:r>
              <a:rPr lang="en-US" sz="2800" i="1" dirty="0">
                <a:solidFill>
                  <a:srgbClr val="000000"/>
                </a:solidFill>
                <a:latin typeface="Arial" pitchFamily="34" charset="0"/>
                <a:ea typeface="Arial" pitchFamily="34" charset="-122"/>
                <a:cs typeface="Arial" pitchFamily="34" charset="-120"/>
              </a:rPr>
              <a:t>Esta vez, alguien lo ve.</a:t>
            </a:r>
            <a:endParaRPr lang="en-US" sz="2800" dirty="0"/>
          </a:p>
        </p:txBody>
      </p:sp>
      <p:pic>
        <p:nvPicPr>
          <p:cNvPr id="34" name="logo|98" descr="Logo de Liverpool">    </p:cNvPr>
          <p:cNvPicPr>
            <a:picLocks noChangeAspect="1"/>
          </p:cNvPicPr>
          <p:nvPr/>
        </p:nvPicPr>
        <p:blipFill>
          <a:blip r:embed="rId5"/>
          <a:stretch>
            <a:fillRect/>
          </a:stretch>
        </p:blipFill>
        <p:spPr>
          <a:xfrm>
            <a:off x="10332720" y="6263640"/>
            <a:ext cx="1371600" cy="347878"/>
          </a:xfrm>
          <a:prstGeom prst="rect">
            <a:avLst/>
          </a:prstGeom>
        </p:spPr>
      </p:pic>
    </p:spTree>
  </p:cSld>
  <p:clrMapOvr>
    <a:masterClrMapping/>
  </p:clrMapOvr>
  <p:transition spd="fast">
    <p:fade/>
  </p:transition>
  <p:timing>
    <p:tnLst>
      <p:par>
        <p:cTn id="1" dur="indefinite" restart="never" nodeType="tmRoot">
          <p:childTnLst>
            <p:seq concurrent="1" nextAc="seek">
              <p:cTn id="2" dur="indefinite" nodeType="mainSeq">
                <p:childTnLst>
                  <p:par>
                    <p:cTn id="99" fill="hold">
                      <p:stCondLst>
                        <p:cond delay="indefinite"/>
                      </p:stCondLst>
                      <p:childTnLst>
                        <p:par>
                          <p:cTn id="100" fill="hold">
                            <p:stCondLst>
                              <p:cond delay="0"/>
                            </p:stCondLst>
                            <p:childTnLst>
                              <p:par>
                                <p:cTn id="3" presetID="10" presetClass="entr" presetSubtype="0" grpId="0" fill="hold" nodeType="click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125"/>
                                        <p:tgtEl>
                                          <p:spTgt spid="2"/>
                                        </p:tgtEl>
                                      </p:cBhvr>
                                    </p:animEffect>
                                  </p:childTnLst>
                                </p:cTn>
                              </p:par>
                              <p:par>
                                <p:cTn id="6" presetID="10" presetClass="entr" presetSubtype="0" grpId="0" fill="hold" nodeType="withEffect">
                                  <p:stCondLst>
                                    <p:cond delay="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125"/>
                                        <p:tgtEl>
                                          <p:spTgt spid="3"/>
                                        </p:tgtEl>
                                      </p:cBhvr>
                                    </p:animEffect>
                                  </p:childTnLst>
                                </p:cTn>
                              </p:par>
                              <p:par>
                                <p:cTn id="9" presetID="10" presetClass="entr" presetSubtype="0" grpId="0" fill="hold" nodeType="withEffect">
                                  <p:stCondLst>
                                    <p:cond delay="24"/>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175"/>
                                        <p:tgtEl>
                                          <p:spTgt spid="4"/>
                                        </p:tgtEl>
                                      </p:cBhvr>
                                    </p:animEffect>
                                  </p:childTnLst>
                                </p:cTn>
                              </p:par>
                              <p:par>
                                <p:cTn id="12" presetID="10" presetClass="entr" presetSubtype="0" grpId="0" fill="hold" nodeType="withEffect">
                                  <p:stCondLst>
                                    <p:cond delay="6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25"/>
                                        <p:tgtEl>
                                          <p:spTgt spid="5"/>
                                        </p:tgtEl>
                                      </p:cBhvr>
                                    </p:animEffect>
                                  </p:childTnLst>
                                </p:cTn>
                              </p:par>
                              <p:par>
                                <p:cTn id="15" presetID="10" presetClass="entr" presetSubtype="0" grpId="0" fill="hold" nodeType="withEffect">
                                  <p:stCondLst>
                                    <p:cond delay="6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125"/>
                                        <p:tgtEl>
                                          <p:spTgt spid="6"/>
                                        </p:tgtEl>
                                      </p:cBhvr>
                                    </p:animEffect>
                                  </p:childTnLst>
                                </p:cTn>
                              </p:par>
                              <p:par>
                                <p:cTn id="18" presetID="10" presetClass="entr" presetSubtype="0" grpId="0" fill="hold" nodeType="withEffect">
                                  <p:stCondLst>
                                    <p:cond delay="6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125"/>
                                        <p:tgtEl>
                                          <p:spTgt spid="7"/>
                                        </p:tgtEl>
                                      </p:cBhvr>
                                    </p:animEffect>
                                  </p:childTnLst>
                                </p:cTn>
                              </p:par>
                              <p:par>
                                <p:cTn id="21" presetID="10" presetClass="entr" presetSubtype="0" grpId="0" fill="hold" nodeType="withEffect">
                                  <p:stCondLst>
                                    <p:cond delay="6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125"/>
                                        <p:tgtEl>
                                          <p:spTgt spid="8"/>
                                        </p:tgtEl>
                                      </p:cBhvr>
                                    </p:animEffect>
                                  </p:childTnLst>
                                </p:cTn>
                              </p:par>
                              <p:par>
                                <p:cTn id="24" presetID="10" presetClass="entr" presetSubtype="0" grpId="0" fill="hold" nodeType="withEffect">
                                  <p:stCondLst>
                                    <p:cond delay="6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125"/>
                                        <p:tgtEl>
                                          <p:spTgt spid="9"/>
                                        </p:tgtEl>
                                      </p:cBhvr>
                                    </p:animEffect>
                                  </p:childTnLst>
                                </p:cTn>
                              </p:par>
                              <p:par>
                                <p:cTn id="27" presetID="10" presetClass="entr" presetSubtype="0" grpId="0" fill="hold" nodeType="withEffect">
                                  <p:stCondLst>
                                    <p:cond delay="6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125"/>
                                        <p:tgtEl>
                                          <p:spTgt spid="10"/>
                                        </p:tgtEl>
                                      </p:cBhvr>
                                    </p:animEffect>
                                  </p:childTnLst>
                                </p:cTn>
                              </p:par>
                              <p:par>
                                <p:cTn id="30" presetID="10" presetClass="entr" presetSubtype="0" fill="hold" nodeType="withEffect">
                                  <p:stCondLst>
                                    <p:cond delay="6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125"/>
                                        <p:tgtEl>
                                          <p:spTgt spid="11"/>
                                        </p:tgtEl>
                                      </p:cBhvr>
                                    </p:animEffect>
                                  </p:childTnLst>
                                </p:cTn>
                              </p:par>
                              <p:par>
                                <p:cTn id="33" presetID="10" presetClass="entr" presetSubtype="0" grpId="0" fill="hold" nodeType="withEffect">
                                  <p:stCondLst>
                                    <p:cond delay="108"/>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125"/>
                                        <p:tgtEl>
                                          <p:spTgt spid="12"/>
                                        </p:tgtEl>
                                      </p:cBhvr>
                                    </p:animEffect>
                                  </p:childTnLst>
                                </p:cTn>
                              </p:par>
                              <p:par>
                                <p:cTn id="36" presetID="10" presetClass="entr" presetSubtype="0" grpId="0" fill="hold" nodeType="withEffect">
                                  <p:stCondLst>
                                    <p:cond delay="108"/>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125"/>
                                        <p:tgtEl>
                                          <p:spTgt spid="13"/>
                                        </p:tgtEl>
                                      </p:cBhvr>
                                    </p:animEffect>
                                  </p:childTnLst>
                                </p:cTn>
                              </p:par>
                              <p:par>
                                <p:cTn id="39" presetID="10" presetClass="entr" presetSubtype="0" grpId="0" fill="hold" nodeType="withEffect">
                                  <p:stCondLst>
                                    <p:cond delay="108"/>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125"/>
                                        <p:tgtEl>
                                          <p:spTgt spid="14"/>
                                        </p:tgtEl>
                                      </p:cBhvr>
                                    </p:animEffect>
                                  </p:childTnLst>
                                </p:cTn>
                              </p:par>
                              <p:par>
                                <p:cTn id="42" presetID="10" presetClass="entr" presetSubtype="0" grpId="0" fill="hold" nodeType="withEffect">
                                  <p:stCondLst>
                                    <p:cond delay="108"/>
                                  </p:stCondLst>
                                  <p:childTnLst>
                                    <p:set>
                                      <p:cBhvr>
                                        <p:cTn id="43" dur="1" fill="hold">
                                          <p:stCondLst>
                                            <p:cond delay="0"/>
                                          </p:stCondLst>
                                        </p:cTn>
                                        <p:tgtEl>
                                          <p:spTgt spid="15"/>
                                        </p:tgtEl>
                                        <p:attrNameLst>
                                          <p:attrName>style.visibility</p:attrName>
                                        </p:attrNameLst>
                                      </p:cBhvr>
                                      <p:to>
                                        <p:strVal val="visible"/>
                                      </p:to>
                                    </p:set>
                                    <p:animEffect transition="in" filter="fade">
                                      <p:cBhvr>
                                        <p:cTn id="44" dur="125"/>
                                        <p:tgtEl>
                                          <p:spTgt spid="15"/>
                                        </p:tgtEl>
                                      </p:cBhvr>
                                    </p:animEffect>
                                  </p:childTnLst>
                                </p:cTn>
                              </p:par>
                              <p:par>
                                <p:cTn id="45" presetID="10" presetClass="entr" presetSubtype="0" grpId="0" fill="hold" nodeType="withEffect">
                                  <p:stCondLst>
                                    <p:cond delay="108"/>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125"/>
                                        <p:tgtEl>
                                          <p:spTgt spid="16"/>
                                        </p:tgtEl>
                                      </p:cBhvr>
                                    </p:animEffect>
                                  </p:childTnLst>
                                </p:cTn>
                              </p:par>
                              <p:par>
                                <p:cTn id="48" presetID="10" presetClass="entr" presetSubtype="0" grpId="0" fill="hold" nodeType="withEffect">
                                  <p:stCondLst>
                                    <p:cond delay="108"/>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125"/>
                                        <p:tgtEl>
                                          <p:spTgt spid="17"/>
                                        </p:tgtEl>
                                      </p:cBhvr>
                                    </p:animEffect>
                                  </p:childTnLst>
                                </p:cTn>
                              </p:par>
                              <p:par>
                                <p:cTn id="51" presetID="10" presetClass="entr" presetSubtype="0" fill="hold" nodeType="withEffect">
                                  <p:stCondLst>
                                    <p:cond delay="108"/>
                                  </p:stCondLst>
                                  <p:childTnLst>
                                    <p:set>
                                      <p:cBhvr>
                                        <p:cTn id="52" dur="1" fill="hold">
                                          <p:stCondLst>
                                            <p:cond delay="0"/>
                                          </p:stCondLst>
                                        </p:cTn>
                                        <p:tgtEl>
                                          <p:spTgt spid="18"/>
                                        </p:tgtEl>
                                        <p:attrNameLst>
                                          <p:attrName>style.visibility</p:attrName>
                                        </p:attrNameLst>
                                      </p:cBhvr>
                                      <p:to>
                                        <p:strVal val="visible"/>
                                      </p:to>
                                    </p:set>
                                    <p:animEffect transition="in" filter="fade">
                                      <p:cBhvr>
                                        <p:cTn id="53" dur="125"/>
                                        <p:tgtEl>
                                          <p:spTgt spid="18"/>
                                        </p:tgtEl>
                                      </p:cBhvr>
                                    </p:animEffect>
                                  </p:childTnLst>
                                </p:cTn>
                              </p:par>
                              <p:par>
                                <p:cTn id="54" presetID="10" presetClass="entr" presetSubtype="0" grpId="0" fill="hold" nodeType="withEffect">
                                  <p:stCondLst>
                                    <p:cond delay="156"/>
                                  </p:stCondLst>
                                  <p:childTnLst>
                                    <p:set>
                                      <p:cBhvr>
                                        <p:cTn id="55" dur="1" fill="hold">
                                          <p:stCondLst>
                                            <p:cond delay="0"/>
                                          </p:stCondLst>
                                        </p:cTn>
                                        <p:tgtEl>
                                          <p:spTgt spid="19"/>
                                        </p:tgtEl>
                                        <p:attrNameLst>
                                          <p:attrName>style.visibility</p:attrName>
                                        </p:attrNameLst>
                                      </p:cBhvr>
                                      <p:to>
                                        <p:strVal val="visible"/>
                                      </p:to>
                                    </p:set>
                                    <p:animEffect transition="in" filter="fade">
                                      <p:cBhvr>
                                        <p:cTn id="56" dur="125"/>
                                        <p:tgtEl>
                                          <p:spTgt spid="19"/>
                                        </p:tgtEl>
                                      </p:cBhvr>
                                    </p:animEffect>
                                  </p:childTnLst>
                                </p:cTn>
                              </p:par>
                              <p:par>
                                <p:cTn id="57" presetID="10" presetClass="entr" presetSubtype="0" grpId="0" fill="hold" nodeType="withEffect">
                                  <p:stCondLst>
                                    <p:cond delay="156"/>
                                  </p:stCondLst>
                                  <p:childTnLst>
                                    <p:set>
                                      <p:cBhvr>
                                        <p:cTn id="58" dur="1" fill="hold">
                                          <p:stCondLst>
                                            <p:cond delay="0"/>
                                          </p:stCondLst>
                                        </p:cTn>
                                        <p:tgtEl>
                                          <p:spTgt spid="20"/>
                                        </p:tgtEl>
                                        <p:attrNameLst>
                                          <p:attrName>style.visibility</p:attrName>
                                        </p:attrNameLst>
                                      </p:cBhvr>
                                      <p:to>
                                        <p:strVal val="visible"/>
                                      </p:to>
                                    </p:set>
                                    <p:animEffect transition="in" filter="fade">
                                      <p:cBhvr>
                                        <p:cTn id="59" dur="125"/>
                                        <p:tgtEl>
                                          <p:spTgt spid="20"/>
                                        </p:tgtEl>
                                      </p:cBhvr>
                                    </p:animEffect>
                                  </p:childTnLst>
                                </p:cTn>
                              </p:par>
                              <p:par>
                                <p:cTn id="60" presetID="10" presetClass="entr" presetSubtype="0" grpId="0" fill="hold" nodeType="withEffect">
                                  <p:stCondLst>
                                    <p:cond delay="156"/>
                                  </p:stCondLst>
                                  <p:childTnLst>
                                    <p:set>
                                      <p:cBhvr>
                                        <p:cTn id="61" dur="1" fill="hold">
                                          <p:stCondLst>
                                            <p:cond delay="0"/>
                                          </p:stCondLst>
                                        </p:cTn>
                                        <p:tgtEl>
                                          <p:spTgt spid="21"/>
                                        </p:tgtEl>
                                        <p:attrNameLst>
                                          <p:attrName>style.visibility</p:attrName>
                                        </p:attrNameLst>
                                      </p:cBhvr>
                                      <p:to>
                                        <p:strVal val="visible"/>
                                      </p:to>
                                    </p:set>
                                    <p:animEffect transition="in" filter="fade">
                                      <p:cBhvr>
                                        <p:cTn id="62" dur="125"/>
                                        <p:tgtEl>
                                          <p:spTgt spid="21"/>
                                        </p:tgtEl>
                                      </p:cBhvr>
                                    </p:animEffect>
                                  </p:childTnLst>
                                </p:cTn>
                              </p:par>
                              <p:par>
                                <p:cTn id="63" presetID="10" presetClass="entr" presetSubtype="0" grpId="0" fill="hold" nodeType="withEffect">
                                  <p:stCondLst>
                                    <p:cond delay="156"/>
                                  </p:stCondLst>
                                  <p:childTnLst>
                                    <p:set>
                                      <p:cBhvr>
                                        <p:cTn id="64" dur="1" fill="hold">
                                          <p:stCondLst>
                                            <p:cond delay="0"/>
                                          </p:stCondLst>
                                        </p:cTn>
                                        <p:tgtEl>
                                          <p:spTgt spid="22"/>
                                        </p:tgtEl>
                                        <p:attrNameLst>
                                          <p:attrName>style.visibility</p:attrName>
                                        </p:attrNameLst>
                                      </p:cBhvr>
                                      <p:to>
                                        <p:strVal val="visible"/>
                                      </p:to>
                                    </p:set>
                                    <p:animEffect transition="in" filter="fade">
                                      <p:cBhvr>
                                        <p:cTn id="65" dur="125"/>
                                        <p:tgtEl>
                                          <p:spTgt spid="22"/>
                                        </p:tgtEl>
                                      </p:cBhvr>
                                    </p:animEffect>
                                  </p:childTnLst>
                                </p:cTn>
                              </p:par>
                              <p:par>
                                <p:cTn id="66" presetID="10" presetClass="entr" presetSubtype="0" grpId="0" fill="hold" nodeType="withEffect">
                                  <p:stCondLst>
                                    <p:cond delay="156"/>
                                  </p:stCondLst>
                                  <p:childTnLst>
                                    <p:set>
                                      <p:cBhvr>
                                        <p:cTn id="67" dur="1" fill="hold">
                                          <p:stCondLst>
                                            <p:cond delay="0"/>
                                          </p:stCondLst>
                                        </p:cTn>
                                        <p:tgtEl>
                                          <p:spTgt spid="23"/>
                                        </p:tgtEl>
                                        <p:attrNameLst>
                                          <p:attrName>style.visibility</p:attrName>
                                        </p:attrNameLst>
                                      </p:cBhvr>
                                      <p:to>
                                        <p:strVal val="visible"/>
                                      </p:to>
                                    </p:set>
                                    <p:animEffect transition="in" filter="fade">
                                      <p:cBhvr>
                                        <p:cTn id="68" dur="125"/>
                                        <p:tgtEl>
                                          <p:spTgt spid="23"/>
                                        </p:tgtEl>
                                      </p:cBhvr>
                                    </p:animEffect>
                                  </p:childTnLst>
                                </p:cTn>
                              </p:par>
                              <p:par>
                                <p:cTn id="69" presetID="10" presetClass="entr" presetSubtype="0" grpId="0" fill="hold" nodeType="withEffect">
                                  <p:stCondLst>
                                    <p:cond delay="156"/>
                                  </p:stCondLst>
                                  <p:childTnLst>
                                    <p:set>
                                      <p:cBhvr>
                                        <p:cTn id="70" dur="1" fill="hold">
                                          <p:stCondLst>
                                            <p:cond delay="0"/>
                                          </p:stCondLst>
                                        </p:cTn>
                                        <p:tgtEl>
                                          <p:spTgt spid="24"/>
                                        </p:tgtEl>
                                        <p:attrNameLst>
                                          <p:attrName>style.visibility</p:attrName>
                                        </p:attrNameLst>
                                      </p:cBhvr>
                                      <p:to>
                                        <p:strVal val="visible"/>
                                      </p:to>
                                    </p:set>
                                    <p:animEffect transition="in" filter="fade">
                                      <p:cBhvr>
                                        <p:cTn id="71" dur="125"/>
                                        <p:tgtEl>
                                          <p:spTgt spid="24"/>
                                        </p:tgtEl>
                                      </p:cBhvr>
                                    </p:animEffect>
                                  </p:childTnLst>
                                </p:cTn>
                              </p:par>
                              <p:par>
                                <p:cTn id="72" presetID="10" presetClass="entr" presetSubtype="0" fill="hold" nodeType="withEffect">
                                  <p:stCondLst>
                                    <p:cond delay="156"/>
                                  </p:stCondLst>
                                  <p:childTnLst>
                                    <p:set>
                                      <p:cBhvr>
                                        <p:cTn id="73" dur="1" fill="hold">
                                          <p:stCondLst>
                                            <p:cond delay="0"/>
                                          </p:stCondLst>
                                        </p:cTn>
                                        <p:tgtEl>
                                          <p:spTgt spid="25"/>
                                        </p:tgtEl>
                                        <p:attrNameLst>
                                          <p:attrName>style.visibility</p:attrName>
                                        </p:attrNameLst>
                                      </p:cBhvr>
                                      <p:to>
                                        <p:strVal val="visible"/>
                                      </p:to>
                                    </p:set>
                                    <p:animEffect transition="in" filter="fade">
                                      <p:cBhvr>
                                        <p:cTn id="74" dur="125"/>
                                        <p:tgtEl>
                                          <p:spTgt spid="25"/>
                                        </p:tgtEl>
                                      </p:cBhvr>
                                    </p:animEffect>
                                  </p:childTnLst>
                                </p:cTn>
                              </p:par>
                              <p:par>
                                <p:cTn id="75" presetID="10" presetClass="entr" presetSubtype="0" grpId="0" fill="hold" nodeType="withEffect">
                                  <p:stCondLst>
                                    <p:cond delay="204"/>
                                  </p:stCondLst>
                                  <p:childTnLst>
                                    <p:set>
                                      <p:cBhvr>
                                        <p:cTn id="76" dur="1" fill="hold">
                                          <p:stCondLst>
                                            <p:cond delay="0"/>
                                          </p:stCondLst>
                                        </p:cTn>
                                        <p:tgtEl>
                                          <p:spTgt spid="26"/>
                                        </p:tgtEl>
                                        <p:attrNameLst>
                                          <p:attrName>style.visibility</p:attrName>
                                        </p:attrNameLst>
                                      </p:cBhvr>
                                      <p:to>
                                        <p:strVal val="visible"/>
                                      </p:to>
                                    </p:set>
                                    <p:animEffect transition="in" filter="fade">
                                      <p:cBhvr>
                                        <p:cTn id="77" dur="125"/>
                                        <p:tgtEl>
                                          <p:spTgt spid="26"/>
                                        </p:tgtEl>
                                      </p:cBhvr>
                                    </p:animEffect>
                                  </p:childTnLst>
                                </p:cTn>
                              </p:par>
                              <p:par>
                                <p:cTn id="78" presetID="10" presetClass="entr" presetSubtype="0" grpId="0" fill="hold" nodeType="withEffect">
                                  <p:stCondLst>
                                    <p:cond delay="204"/>
                                  </p:stCondLst>
                                  <p:childTnLst>
                                    <p:set>
                                      <p:cBhvr>
                                        <p:cTn id="79" dur="1" fill="hold">
                                          <p:stCondLst>
                                            <p:cond delay="0"/>
                                          </p:stCondLst>
                                        </p:cTn>
                                        <p:tgtEl>
                                          <p:spTgt spid="27"/>
                                        </p:tgtEl>
                                        <p:attrNameLst>
                                          <p:attrName>style.visibility</p:attrName>
                                        </p:attrNameLst>
                                      </p:cBhvr>
                                      <p:to>
                                        <p:strVal val="visible"/>
                                      </p:to>
                                    </p:set>
                                    <p:animEffect transition="in" filter="fade">
                                      <p:cBhvr>
                                        <p:cTn id="80" dur="125"/>
                                        <p:tgtEl>
                                          <p:spTgt spid="27"/>
                                        </p:tgtEl>
                                      </p:cBhvr>
                                    </p:animEffect>
                                  </p:childTnLst>
                                </p:cTn>
                              </p:par>
                              <p:par>
                                <p:cTn id="81" presetID="10" presetClass="entr" presetSubtype="0" grpId="0" fill="hold" nodeType="withEffect">
                                  <p:stCondLst>
                                    <p:cond delay="204"/>
                                  </p:stCondLst>
                                  <p:childTnLst>
                                    <p:set>
                                      <p:cBhvr>
                                        <p:cTn id="82" dur="1" fill="hold">
                                          <p:stCondLst>
                                            <p:cond delay="0"/>
                                          </p:stCondLst>
                                        </p:cTn>
                                        <p:tgtEl>
                                          <p:spTgt spid="28"/>
                                        </p:tgtEl>
                                        <p:attrNameLst>
                                          <p:attrName>style.visibility</p:attrName>
                                        </p:attrNameLst>
                                      </p:cBhvr>
                                      <p:to>
                                        <p:strVal val="visible"/>
                                      </p:to>
                                    </p:set>
                                    <p:animEffect transition="in" filter="fade">
                                      <p:cBhvr>
                                        <p:cTn id="83" dur="125"/>
                                        <p:tgtEl>
                                          <p:spTgt spid="28"/>
                                        </p:tgtEl>
                                      </p:cBhvr>
                                    </p:animEffect>
                                  </p:childTnLst>
                                </p:cTn>
                              </p:par>
                              <p:par>
                                <p:cTn id="84" presetID="10" presetClass="entr" presetSubtype="0" grpId="0" fill="hold" nodeType="withEffect">
                                  <p:stCondLst>
                                    <p:cond delay="204"/>
                                  </p:stCondLst>
                                  <p:childTnLst>
                                    <p:set>
                                      <p:cBhvr>
                                        <p:cTn id="85" dur="1" fill="hold">
                                          <p:stCondLst>
                                            <p:cond delay="0"/>
                                          </p:stCondLst>
                                        </p:cTn>
                                        <p:tgtEl>
                                          <p:spTgt spid="29"/>
                                        </p:tgtEl>
                                        <p:attrNameLst>
                                          <p:attrName>style.visibility</p:attrName>
                                        </p:attrNameLst>
                                      </p:cBhvr>
                                      <p:to>
                                        <p:strVal val="visible"/>
                                      </p:to>
                                    </p:set>
                                    <p:animEffect transition="in" filter="fade">
                                      <p:cBhvr>
                                        <p:cTn id="86" dur="125"/>
                                        <p:tgtEl>
                                          <p:spTgt spid="29"/>
                                        </p:tgtEl>
                                      </p:cBhvr>
                                    </p:animEffect>
                                  </p:childTnLst>
                                </p:cTn>
                              </p:par>
                              <p:par>
                                <p:cTn id="87" presetID="10" presetClass="entr" presetSubtype="0" grpId="0" fill="hold" nodeType="withEffect">
                                  <p:stCondLst>
                                    <p:cond delay="204"/>
                                  </p:stCondLst>
                                  <p:childTnLst>
                                    <p:set>
                                      <p:cBhvr>
                                        <p:cTn id="88" dur="1" fill="hold">
                                          <p:stCondLst>
                                            <p:cond delay="0"/>
                                          </p:stCondLst>
                                        </p:cTn>
                                        <p:tgtEl>
                                          <p:spTgt spid="30"/>
                                        </p:tgtEl>
                                        <p:attrNameLst>
                                          <p:attrName>style.visibility</p:attrName>
                                        </p:attrNameLst>
                                      </p:cBhvr>
                                      <p:to>
                                        <p:strVal val="visible"/>
                                      </p:to>
                                    </p:set>
                                    <p:animEffect transition="in" filter="fade">
                                      <p:cBhvr>
                                        <p:cTn id="89" dur="125"/>
                                        <p:tgtEl>
                                          <p:spTgt spid="30"/>
                                        </p:tgtEl>
                                      </p:cBhvr>
                                    </p:animEffect>
                                  </p:childTnLst>
                                </p:cTn>
                              </p:par>
                              <p:par>
                                <p:cTn id="90" presetID="10" presetClass="entr" presetSubtype="0" grpId="0" fill="hold" nodeType="withEffect">
                                  <p:stCondLst>
                                    <p:cond delay="204"/>
                                  </p:stCondLst>
                                  <p:childTnLst>
                                    <p:set>
                                      <p:cBhvr>
                                        <p:cTn id="91" dur="1" fill="hold">
                                          <p:stCondLst>
                                            <p:cond delay="0"/>
                                          </p:stCondLst>
                                        </p:cTn>
                                        <p:tgtEl>
                                          <p:spTgt spid="31"/>
                                        </p:tgtEl>
                                        <p:attrNameLst>
                                          <p:attrName>style.visibility</p:attrName>
                                        </p:attrNameLst>
                                      </p:cBhvr>
                                      <p:to>
                                        <p:strVal val="visible"/>
                                      </p:to>
                                    </p:set>
                                    <p:animEffect transition="in" filter="fade">
                                      <p:cBhvr>
                                        <p:cTn id="92" dur="125"/>
                                        <p:tgtEl>
                                          <p:spTgt spid="31"/>
                                        </p:tgtEl>
                                      </p:cBhvr>
                                    </p:animEffect>
                                  </p:childTnLst>
                                </p:cTn>
                              </p:par>
                              <p:par>
                                <p:cTn id="93" presetID="10" presetClass="entr" presetSubtype="0" fill="hold" nodeType="withEffect">
                                  <p:stCondLst>
                                    <p:cond delay="204"/>
                                  </p:stCondLst>
                                  <p:childTnLst>
                                    <p:set>
                                      <p:cBhvr>
                                        <p:cTn id="94" dur="1" fill="hold">
                                          <p:stCondLst>
                                            <p:cond delay="0"/>
                                          </p:stCondLst>
                                        </p:cTn>
                                        <p:tgtEl>
                                          <p:spTgt spid="32"/>
                                        </p:tgtEl>
                                        <p:attrNameLst>
                                          <p:attrName>style.visibility</p:attrName>
                                        </p:attrNameLst>
                                      </p:cBhvr>
                                      <p:to>
                                        <p:strVal val="visible"/>
                                      </p:to>
                                    </p:set>
                                    <p:animEffect transition="in" filter="fade">
                                      <p:cBhvr>
                                        <p:cTn id="95" dur="125"/>
                                        <p:tgtEl>
                                          <p:spTgt spid="32"/>
                                        </p:tgtEl>
                                      </p:cBhvr>
                                    </p:animEffect>
                                  </p:childTnLst>
                                </p:cTn>
                              </p:par>
                              <p:par>
                                <p:cTn id="96" presetID="10" presetClass="entr" presetSubtype="0" grpId="0" fill="hold" nodeType="withEffect">
                                  <p:stCondLst>
                                    <p:cond delay="276"/>
                                  </p:stCondLst>
                                  <p:childTnLst>
                                    <p:set>
                                      <p:cBhvr>
                                        <p:cTn id="97" dur="1" fill="hold">
                                          <p:stCondLst>
                                            <p:cond delay="0"/>
                                          </p:stCondLst>
                                        </p:cTn>
                                        <p:tgtEl>
                                          <p:spTgt spid="33"/>
                                        </p:tgtEl>
                                        <p:attrNameLst>
                                          <p:attrName>style.visibility</p:attrName>
                                        </p:attrNameLst>
                                      </p:cBhvr>
                                      <p:to>
                                        <p:strVal val="visible"/>
                                      </p:to>
                                    </p:set>
                                    <p:animEffect transition="in" filter="fade">
                                      <p:cBhvr>
                                        <p:cTn id="98" dur="175"/>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P spid="4" grpId="0"/>
      <p:bldP spid="5" grpId="0" animBg="1"/>
      <p:bldP spid="6" grpId="0" animBg="1"/>
      <p:bldP spid="7" grpId="0"/>
      <p:bldP spid="8" grpId="0"/>
      <p:bldP spid="9" grpId="0"/>
      <p:bldP spid="10" grpId="0" animBg="1"/>
      <p:bldP spid="12" grpId="0" animBg="1"/>
      <p:bldP spid="13" grpId="0" animBg="1"/>
      <p:bldP spid="14" grpId="0"/>
      <p:bldP spid="15" grpId="0"/>
      <p:bldP spid="16" grpId="0"/>
      <p:bldP spid="17" grpId="0" animBg="1"/>
      <p:bldP spid="19" grpId="0" animBg="1"/>
      <p:bldP spid="20" grpId="0" animBg="1"/>
      <p:bldP spid="21" grpId="0"/>
      <p:bldP spid="22" grpId="0"/>
      <p:bldP spid="23" grpId="0"/>
      <p:bldP spid="24" grpId="0" animBg="1"/>
      <p:bldP spid="26" grpId="0" animBg="1"/>
      <p:bldP spid="27" grpId="0" animBg="1"/>
      <p:bldP spid="28" grpId="0"/>
      <p:bldP spid="29" grpId="0"/>
      <p:bldP spid="30" grpId="0"/>
      <p:bldP spid="31" grpId="0" animBg="1"/>
      <p:bldP spid="33" grpId="0"/>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t8|99"/>
          <p:cNvSpPr txBox="1"/>
          <p:nvPr/>
        </p:nvSpPr>
        <p:spPr>
          <a:xfrm>
            <a:off x="640080" y="502920"/>
            <a:ext cx="10972800" cy="822960"/>
          </a:xfrm>
          <a:prstGeom prst="rect">
            <a:avLst/>
          </a:prstGeom>
          <a:noFill/>
          <a:ln/>
        </p:spPr>
        <p:txBody>
          <a:bodyPr wrap="square" lIns="0" tIns="0" rIns="0" bIns="0" rtlCol="0" anchor="t"/>
          <a:lstStyle/>
          <a:p>
            <a:pPr indent="0" marL="0">
              <a:buNone/>
            </a:pPr>
            <a:r>
              <a:rPr lang="en-US" sz="4400" b="1" dirty="0">
                <a:solidFill>
                  <a:srgbClr val="000000"/>
                </a:solidFill>
                <a:latin typeface="Arial" pitchFamily="34" charset="0"/>
                <a:ea typeface="Arial" pitchFamily="34" charset="-122"/>
                <a:cs typeface="Arial" pitchFamily="34" charset="-120"/>
              </a:rPr>
              <a:t>Métricas de </a:t>
            </a:r>
            <a:pPr indent="0" marL="0">
              <a:buNone/>
            </a:pPr>
            <a:r>
              <a:rPr lang="en-US" sz="4400" b="1" dirty="0">
                <a:solidFill>
                  <a:srgbClr val="E10098"/>
                </a:solidFill>
                <a:latin typeface="Arial" pitchFamily="34" charset="0"/>
                <a:ea typeface="Arial" pitchFamily="34" charset="-122"/>
                <a:cs typeface="Arial" pitchFamily="34" charset="-120"/>
              </a:rPr>
              <a:t>éxito</a:t>
            </a:r>
            <a:endParaRPr lang="en-US" sz="4400" dirty="0"/>
          </a:p>
        </p:txBody>
      </p:sp>
      <p:sp>
        <p:nvSpPr>
          <p:cNvPr id="3" name="tt8|100"/>
          <p:cNvSpPr txBox="1"/>
          <p:nvPr/>
        </p:nvSpPr>
        <p:spPr>
          <a:xfrm>
            <a:off x="640080" y="1325880"/>
            <a:ext cx="5486400" cy="365760"/>
          </a:xfrm>
          <a:prstGeom prst="rect">
            <a:avLst/>
          </a:prstGeom>
          <a:noFill/>
          <a:ln/>
        </p:spPr>
        <p:txBody>
          <a:bodyPr wrap="square" lIns="0" tIns="0" rIns="0" bIns="0" rtlCol="0" anchor="t"/>
          <a:lstStyle/>
          <a:p>
            <a:pPr indent="0" marL="0">
              <a:buNone/>
            </a:pPr>
            <a:r>
              <a:rPr lang="en-US" sz="1600" dirty="0">
                <a:solidFill>
                  <a:srgbClr val="666666"/>
                </a:solidFill>
                <a:latin typeface="Arial" pitchFamily="34" charset="0"/>
                <a:ea typeface="Arial" pitchFamily="34" charset="-122"/>
                <a:cs typeface="Arial" pitchFamily="34" charset="-120"/>
              </a:rPr>
              <a:t>Metas del piloto</a:t>
            </a:r>
            <a:endParaRPr lang="en-US" sz="1600" dirty="0"/>
          </a:p>
        </p:txBody>
      </p:sp>
      <p:sp>
        <p:nvSpPr>
          <p:cNvPr id="4" name="m1|101"/>
          <p:cNvSpPr/>
          <p:nvPr/>
        </p:nvSpPr>
        <p:spPr>
          <a:xfrm>
            <a:off x="640080" y="1965960"/>
            <a:ext cx="3520440" cy="3840480"/>
          </a:xfrm>
          <a:prstGeom prst="roundRect">
            <a:avLst>
              <a:gd name="adj" fmla="val 5195"/>
            </a:avLst>
          </a:prstGeom>
          <a:solidFill>
            <a:srgbClr val="FDF0F8"/>
          </a:solidFill>
          <a:ln w="12700">
            <a:solidFill>
              <a:srgbClr val="FDF0F8"/>
            </a:solidFill>
            <a:prstDash val="solid"/>
          </a:ln>
        </p:spPr>
      </p:sp>
      <p:sp>
        <p:nvSpPr>
          <p:cNvPr id="5" name="m1|102"/>
          <p:cNvSpPr/>
          <p:nvPr/>
        </p:nvSpPr>
        <p:spPr>
          <a:xfrm>
            <a:off x="960120" y="2240280"/>
            <a:ext cx="731520" cy="731520"/>
          </a:xfrm>
          <a:prstGeom prst="ellipse">
            <a:avLst/>
          </a:prstGeom>
          <a:solidFill>
            <a:srgbClr val="E10098"/>
          </a:solidFill>
          <a:ln w="12700">
            <a:solidFill>
              <a:srgbClr val="E10098"/>
            </a:solidFill>
            <a:prstDash val="solid"/>
          </a:ln>
        </p:spPr>
      </p:sp>
      <p:pic>
        <p:nvPicPr>
          <p:cNvPr id="6" name="m1|103" descr="Velocidad">    </p:cNvPr>
          <p:cNvPicPr>
            <a:picLocks noChangeAspect="1"/>
          </p:cNvPicPr>
          <p:nvPr/>
        </p:nvPicPr>
        <p:blipFill>
          <a:blip r:embed="rId1"/>
          <a:stretch>
            <a:fillRect/>
          </a:stretch>
        </p:blipFill>
        <p:spPr>
          <a:xfrm>
            <a:off x="1143000" y="2423160"/>
            <a:ext cx="365760" cy="365760"/>
          </a:xfrm>
          <a:prstGeom prst="rect">
            <a:avLst/>
          </a:prstGeom>
        </p:spPr>
      </p:pic>
      <p:sp>
        <p:nvSpPr>
          <p:cNvPr id="7" name="m1|104"/>
          <p:cNvSpPr txBox="1"/>
          <p:nvPr/>
        </p:nvSpPr>
        <p:spPr>
          <a:xfrm>
            <a:off x="960120" y="3108960"/>
            <a:ext cx="2926080" cy="365760"/>
          </a:xfrm>
          <a:prstGeom prst="rect">
            <a:avLst/>
          </a:prstGeom>
          <a:noFill/>
          <a:ln/>
        </p:spPr>
        <p:txBody>
          <a:bodyPr wrap="square" lIns="0" tIns="0" rIns="0" bIns="0" rtlCol="0" anchor="t"/>
          <a:lstStyle/>
          <a:p>
            <a:pPr indent="0" marL="0">
              <a:buNone/>
            </a:pPr>
            <a:r>
              <a:rPr lang="en-US" sz="1800" b="1" dirty="0">
                <a:solidFill>
                  <a:srgbClr val="A30071"/>
                </a:solidFill>
                <a:latin typeface="Arial" pitchFamily="34" charset="0"/>
                <a:ea typeface="Arial" pitchFamily="34" charset="-122"/>
                <a:cs typeface="Arial" pitchFamily="34" charset="-120"/>
              </a:rPr>
              <a:t>Velocidad</a:t>
            </a:r>
            <a:endParaRPr lang="en-US" sz="1800" dirty="0"/>
          </a:p>
        </p:txBody>
      </p:sp>
      <p:sp>
        <p:nvSpPr>
          <p:cNvPr id="8" name="m1|105"/>
          <p:cNvSpPr txBox="1"/>
          <p:nvPr/>
        </p:nvSpPr>
        <p:spPr>
          <a:xfrm>
            <a:off x="960120" y="3520440"/>
            <a:ext cx="3017520" cy="822960"/>
          </a:xfrm>
          <a:prstGeom prst="rect">
            <a:avLst/>
          </a:prstGeom>
          <a:noFill/>
          <a:ln/>
        </p:spPr>
        <p:txBody>
          <a:bodyPr wrap="square" lIns="0" tIns="0" rIns="0" bIns="0" rtlCol="0" anchor="t"/>
          <a:lstStyle/>
          <a:p>
            <a:pPr indent="0" marL="0">
              <a:buNone/>
            </a:pPr>
            <a:r>
              <a:rPr lang="en-US" sz="3800" b="1" dirty="0">
                <a:solidFill>
                  <a:srgbClr val="000000"/>
                </a:solidFill>
                <a:latin typeface="Arial" pitchFamily="34" charset="0"/>
                <a:ea typeface="Arial" pitchFamily="34" charset="-122"/>
                <a:cs typeface="Arial" pitchFamily="34" charset="-120"/>
              </a:rPr>
              <a:t>4 semanas</a:t>
            </a:r>
            <a:endParaRPr lang="en-US" sz="3800" dirty="0"/>
          </a:p>
        </p:txBody>
      </p:sp>
      <p:sp>
        <p:nvSpPr>
          <p:cNvPr id="9" name="m1|106"/>
          <p:cNvSpPr txBox="1"/>
          <p:nvPr/>
        </p:nvSpPr>
        <p:spPr>
          <a:xfrm>
            <a:off x="960120" y="4434840"/>
            <a:ext cx="2926080" cy="1280160"/>
          </a:xfrm>
          <a:prstGeom prst="rect">
            <a:avLst/>
          </a:prstGeom>
          <a:noFill/>
          <a:ln/>
        </p:spPr>
        <p:txBody>
          <a:bodyPr wrap="square" lIns="0" tIns="0" rIns="0" bIns="0" rtlCol="0" anchor="t"/>
          <a:lstStyle/>
          <a:p>
            <a:pPr indent="0" marL="0">
              <a:buNone/>
            </a:pPr>
            <a:r>
              <a:rPr lang="en-US" sz="1500" dirty="0">
                <a:solidFill>
                  <a:srgbClr val="000000"/>
                </a:solidFill>
                <a:latin typeface="Arial" pitchFamily="34" charset="0"/>
                <a:ea typeface="Arial" pitchFamily="34" charset="-122"/>
                <a:cs typeface="Arial" pitchFamily="34" charset="-120"/>
              </a:rPr>
              <a:t>Acercar el ciclo de contratación a lo que RH espera. Hoy: 52 días en México.</a:t>
            </a:r>
            <a:endParaRPr lang="en-US" sz="1500" dirty="0"/>
          </a:p>
        </p:txBody>
      </p:sp>
      <p:sp>
        <p:nvSpPr>
          <p:cNvPr id="10" name="m2|107"/>
          <p:cNvSpPr/>
          <p:nvPr/>
        </p:nvSpPr>
        <p:spPr>
          <a:xfrm>
            <a:off x="4343400" y="1965960"/>
            <a:ext cx="3520440" cy="3840480"/>
          </a:xfrm>
          <a:prstGeom prst="roundRect">
            <a:avLst>
              <a:gd name="adj" fmla="val 5195"/>
            </a:avLst>
          </a:prstGeom>
          <a:solidFill>
            <a:srgbClr val="FDF0F8"/>
          </a:solidFill>
          <a:ln w="12700">
            <a:solidFill>
              <a:srgbClr val="FDF0F8"/>
            </a:solidFill>
            <a:prstDash val="solid"/>
          </a:ln>
        </p:spPr>
      </p:sp>
      <p:sp>
        <p:nvSpPr>
          <p:cNvPr id="11" name="m2|108"/>
          <p:cNvSpPr/>
          <p:nvPr/>
        </p:nvSpPr>
        <p:spPr>
          <a:xfrm>
            <a:off x="4663440" y="2240280"/>
            <a:ext cx="731520" cy="731520"/>
          </a:xfrm>
          <a:prstGeom prst="ellipse">
            <a:avLst/>
          </a:prstGeom>
          <a:solidFill>
            <a:srgbClr val="E10098"/>
          </a:solidFill>
          <a:ln w="12700">
            <a:solidFill>
              <a:srgbClr val="E10098"/>
            </a:solidFill>
            <a:prstDash val="solid"/>
          </a:ln>
        </p:spPr>
      </p:sp>
      <p:pic>
        <p:nvPicPr>
          <p:cNvPr id="12" name="m2|109" descr="Transparencia">    </p:cNvPr>
          <p:cNvPicPr>
            <a:picLocks noChangeAspect="1"/>
          </p:cNvPicPr>
          <p:nvPr/>
        </p:nvPicPr>
        <p:blipFill>
          <a:blip r:embed="rId2"/>
          <a:stretch>
            <a:fillRect/>
          </a:stretch>
        </p:blipFill>
        <p:spPr>
          <a:xfrm>
            <a:off x="4846320" y="2423160"/>
            <a:ext cx="365760" cy="365760"/>
          </a:xfrm>
          <a:prstGeom prst="rect">
            <a:avLst/>
          </a:prstGeom>
        </p:spPr>
      </p:pic>
      <p:sp>
        <p:nvSpPr>
          <p:cNvPr id="13" name="m2|110"/>
          <p:cNvSpPr txBox="1"/>
          <p:nvPr/>
        </p:nvSpPr>
        <p:spPr>
          <a:xfrm>
            <a:off x="4663440" y="3108960"/>
            <a:ext cx="2926080" cy="365760"/>
          </a:xfrm>
          <a:prstGeom prst="rect">
            <a:avLst/>
          </a:prstGeom>
          <a:noFill/>
          <a:ln/>
        </p:spPr>
        <p:txBody>
          <a:bodyPr wrap="square" lIns="0" tIns="0" rIns="0" bIns="0" rtlCol="0" anchor="t"/>
          <a:lstStyle/>
          <a:p>
            <a:pPr indent="0" marL="0">
              <a:buNone/>
            </a:pPr>
            <a:r>
              <a:rPr lang="en-US" sz="1800" b="1" dirty="0">
                <a:solidFill>
                  <a:srgbClr val="A30071"/>
                </a:solidFill>
                <a:latin typeface="Arial" pitchFamily="34" charset="0"/>
                <a:ea typeface="Arial" pitchFamily="34" charset="-122"/>
                <a:cs typeface="Arial" pitchFamily="34" charset="-120"/>
              </a:rPr>
              <a:t>Transparencia</a:t>
            </a:r>
            <a:endParaRPr lang="en-US" sz="1800" dirty="0"/>
          </a:p>
        </p:txBody>
      </p:sp>
      <p:sp>
        <p:nvSpPr>
          <p:cNvPr id="14" name="m2|111"/>
          <p:cNvSpPr txBox="1"/>
          <p:nvPr/>
        </p:nvSpPr>
        <p:spPr>
          <a:xfrm>
            <a:off x="4663440" y="3520440"/>
            <a:ext cx="3017520" cy="822960"/>
          </a:xfrm>
          <a:prstGeom prst="rect">
            <a:avLst/>
          </a:prstGeom>
          <a:noFill/>
          <a:ln/>
        </p:spPr>
        <p:txBody>
          <a:bodyPr wrap="square" lIns="0" tIns="0" rIns="0" bIns="0" rtlCol="0" anchor="t"/>
          <a:lstStyle/>
          <a:p>
            <a:pPr indent="0" marL="0">
              <a:buNone/>
            </a:pPr>
            <a:r>
              <a:rPr lang="en-US" sz="3800" b="1" dirty="0">
                <a:solidFill>
                  <a:srgbClr val="000000"/>
                </a:solidFill>
                <a:latin typeface="Arial" pitchFamily="34" charset="0"/>
                <a:ea typeface="Arial" pitchFamily="34" charset="-122"/>
                <a:cs typeface="Arial" pitchFamily="34" charset="-120"/>
              </a:rPr>
              <a:t>&lt; 4 días</a:t>
            </a:r>
            <a:endParaRPr lang="en-US" sz="3800" dirty="0"/>
          </a:p>
        </p:txBody>
      </p:sp>
      <p:sp>
        <p:nvSpPr>
          <p:cNvPr id="15" name="m2|112"/>
          <p:cNvSpPr txBox="1"/>
          <p:nvPr/>
        </p:nvSpPr>
        <p:spPr>
          <a:xfrm>
            <a:off x="4663440" y="4434840"/>
            <a:ext cx="2926080" cy="1280160"/>
          </a:xfrm>
          <a:prstGeom prst="rect">
            <a:avLst/>
          </a:prstGeom>
          <a:noFill/>
          <a:ln/>
        </p:spPr>
        <p:txBody>
          <a:bodyPr wrap="square" lIns="0" tIns="0" rIns="0" bIns="0" rtlCol="0" anchor="t"/>
          <a:lstStyle/>
          <a:p>
            <a:pPr indent="0" marL="0">
              <a:buNone/>
            </a:pPr>
            <a:r>
              <a:rPr lang="en-US" sz="1500" dirty="0">
                <a:solidFill>
                  <a:srgbClr val="000000"/>
                </a:solidFill>
                <a:latin typeface="Arial" pitchFamily="34" charset="0"/>
                <a:ea typeface="Arial" pitchFamily="34" charset="-122"/>
                <a:cs typeface="Arial" pitchFamily="34" charset="-120"/>
              </a:rPr>
              <a:t>Ningún candidato sin respuesta pasados 4 días de su entrevista. 9 de cada 10 lo esperan.</a:t>
            </a:r>
            <a:endParaRPr lang="en-US" sz="1500" dirty="0"/>
          </a:p>
        </p:txBody>
      </p:sp>
      <p:sp>
        <p:nvSpPr>
          <p:cNvPr id="16" name="m3|113"/>
          <p:cNvSpPr/>
          <p:nvPr/>
        </p:nvSpPr>
        <p:spPr>
          <a:xfrm>
            <a:off x="8046720" y="1965960"/>
            <a:ext cx="3520440" cy="3840480"/>
          </a:xfrm>
          <a:prstGeom prst="roundRect">
            <a:avLst>
              <a:gd name="adj" fmla="val 5195"/>
            </a:avLst>
          </a:prstGeom>
          <a:solidFill>
            <a:srgbClr val="FDF0F8"/>
          </a:solidFill>
          <a:ln w="12700">
            <a:solidFill>
              <a:srgbClr val="FDF0F8"/>
            </a:solidFill>
            <a:prstDash val="solid"/>
          </a:ln>
        </p:spPr>
      </p:sp>
      <p:sp>
        <p:nvSpPr>
          <p:cNvPr id="17" name="m3|114"/>
          <p:cNvSpPr/>
          <p:nvPr/>
        </p:nvSpPr>
        <p:spPr>
          <a:xfrm>
            <a:off x="8366760" y="2240280"/>
            <a:ext cx="731520" cy="731520"/>
          </a:xfrm>
          <a:prstGeom prst="ellipse">
            <a:avLst/>
          </a:prstGeom>
          <a:solidFill>
            <a:srgbClr val="E10098"/>
          </a:solidFill>
          <a:ln w="12700">
            <a:solidFill>
              <a:srgbClr val="E10098"/>
            </a:solidFill>
            <a:prstDash val="solid"/>
          </a:ln>
        </p:spPr>
      </p:sp>
      <p:pic>
        <p:nvPicPr>
          <p:cNvPr id="18" name="m3|115" descr="Alineación">    </p:cNvPr>
          <p:cNvPicPr>
            <a:picLocks noChangeAspect="1"/>
          </p:cNvPicPr>
          <p:nvPr/>
        </p:nvPicPr>
        <p:blipFill>
          <a:blip r:embed="rId3"/>
          <a:stretch>
            <a:fillRect/>
          </a:stretch>
        </p:blipFill>
        <p:spPr>
          <a:xfrm>
            <a:off x="8549640" y="2423160"/>
            <a:ext cx="365760" cy="365760"/>
          </a:xfrm>
          <a:prstGeom prst="rect">
            <a:avLst/>
          </a:prstGeom>
        </p:spPr>
      </p:pic>
      <p:sp>
        <p:nvSpPr>
          <p:cNvPr id="19" name="m3|116"/>
          <p:cNvSpPr txBox="1"/>
          <p:nvPr/>
        </p:nvSpPr>
        <p:spPr>
          <a:xfrm>
            <a:off x="8366760" y="3108960"/>
            <a:ext cx="2926080" cy="365760"/>
          </a:xfrm>
          <a:prstGeom prst="rect">
            <a:avLst/>
          </a:prstGeom>
          <a:noFill/>
          <a:ln/>
        </p:spPr>
        <p:txBody>
          <a:bodyPr wrap="square" lIns="0" tIns="0" rIns="0" bIns="0" rtlCol="0" anchor="t"/>
          <a:lstStyle/>
          <a:p>
            <a:pPr indent="0" marL="0">
              <a:buNone/>
            </a:pPr>
            <a:r>
              <a:rPr lang="en-US" sz="1800" b="1" dirty="0">
                <a:solidFill>
                  <a:srgbClr val="A30071"/>
                </a:solidFill>
                <a:latin typeface="Arial" pitchFamily="34" charset="0"/>
                <a:ea typeface="Arial" pitchFamily="34" charset="-122"/>
                <a:cs typeface="Arial" pitchFamily="34" charset="-120"/>
              </a:rPr>
              <a:t>Alineación</a:t>
            </a:r>
            <a:endParaRPr lang="en-US" sz="1800" dirty="0"/>
          </a:p>
        </p:txBody>
      </p:sp>
      <p:sp>
        <p:nvSpPr>
          <p:cNvPr id="20" name="m3|117"/>
          <p:cNvSpPr txBox="1"/>
          <p:nvPr/>
        </p:nvSpPr>
        <p:spPr>
          <a:xfrm>
            <a:off x="8366760" y="3520440"/>
            <a:ext cx="3017520" cy="822960"/>
          </a:xfrm>
          <a:prstGeom prst="rect">
            <a:avLst/>
          </a:prstGeom>
          <a:noFill/>
          <a:ln/>
        </p:spPr>
        <p:txBody>
          <a:bodyPr wrap="square" lIns="0" tIns="0" rIns="0" bIns="0" rtlCol="0" anchor="t"/>
          <a:lstStyle/>
          <a:p>
            <a:pPr indent="0" marL="0">
              <a:buNone/>
            </a:pPr>
            <a:r>
              <a:rPr lang="en-US" sz="3800" b="1" dirty="0">
                <a:solidFill>
                  <a:srgbClr val="000000"/>
                </a:solidFill>
                <a:latin typeface="Arial" pitchFamily="34" charset="0"/>
                <a:ea typeface="Arial" pitchFamily="34" charset="-122"/>
                <a:cs typeface="Arial" pitchFamily="34" charset="-120"/>
              </a:rPr>
              <a:t>100%</a:t>
            </a:r>
            <a:endParaRPr lang="en-US" sz="3800" dirty="0"/>
          </a:p>
        </p:txBody>
      </p:sp>
      <p:sp>
        <p:nvSpPr>
          <p:cNvPr id="21" name="m3|118"/>
          <p:cNvSpPr txBox="1"/>
          <p:nvPr/>
        </p:nvSpPr>
        <p:spPr>
          <a:xfrm>
            <a:off x="8366760" y="4434840"/>
            <a:ext cx="2926080" cy="1280160"/>
          </a:xfrm>
          <a:prstGeom prst="rect">
            <a:avLst/>
          </a:prstGeom>
          <a:noFill/>
          <a:ln/>
        </p:spPr>
        <p:txBody>
          <a:bodyPr wrap="square" lIns="0" tIns="0" rIns="0" bIns="0" rtlCol="0" anchor="t"/>
          <a:lstStyle/>
          <a:p>
            <a:pPr indent="0" marL="0">
              <a:buNone/>
            </a:pPr>
            <a:r>
              <a:rPr lang="en-US" sz="1500" dirty="0">
                <a:solidFill>
                  <a:srgbClr val="000000"/>
                </a:solidFill>
                <a:latin typeface="Arial" pitchFamily="34" charset="0"/>
                <a:ea typeface="Arial" pitchFamily="34" charset="-122"/>
                <a:cs typeface="Arial" pitchFamily="34" charset="-120"/>
              </a:rPr>
              <a:t>de las vacantes se buscan con una requisición que el BP ya validó. El sistema lo garantiza.</a:t>
            </a:r>
            <a:endParaRPr lang="en-US" sz="1500" dirty="0"/>
          </a:p>
        </p:txBody>
      </p:sp>
      <p:sp>
        <p:nvSpPr>
          <p:cNvPr id="22" name="src8|119"/>
          <p:cNvSpPr txBox="1"/>
          <p:nvPr/>
        </p:nvSpPr>
        <p:spPr>
          <a:xfrm>
            <a:off x="640080" y="6263640"/>
            <a:ext cx="8229600" cy="274320"/>
          </a:xfrm>
          <a:prstGeom prst="rect">
            <a:avLst/>
          </a:prstGeom>
          <a:noFill/>
          <a:ln/>
        </p:spPr>
        <p:txBody>
          <a:bodyPr wrap="square" lIns="0" tIns="0" rIns="0" bIns="0" rtlCol="0" anchor="t"/>
          <a:lstStyle/>
          <a:p>
            <a:pPr indent="0" marL="0">
              <a:buNone/>
            </a:pPr>
            <a:r>
              <a:rPr lang="en-US" sz="1000" dirty="0">
                <a:solidFill>
                  <a:srgbClr val="8C8C8C"/>
                </a:solidFill>
                <a:latin typeface="Arial" pitchFamily="34" charset="0"/>
                <a:ea typeface="Arial" pitchFamily="34" charset="-122"/>
                <a:cs typeface="Arial" pitchFamily="34" charset="-120"/>
              </a:rPr>
              <a:t>Cifras de contexto: Computrabajo (México).</a:t>
            </a:r>
            <a:endParaRPr lang="en-US" sz="1000" dirty="0"/>
          </a:p>
        </p:txBody>
      </p:sp>
      <p:pic>
        <p:nvPicPr>
          <p:cNvPr id="23" name="logo|120" descr="Logo de Liverpool">    </p:cNvPr>
          <p:cNvPicPr>
            <a:picLocks noChangeAspect="1"/>
          </p:cNvPicPr>
          <p:nvPr/>
        </p:nvPicPr>
        <p:blipFill>
          <a:blip r:embed="rId4"/>
          <a:stretch>
            <a:fillRect/>
          </a:stretch>
        </p:blipFill>
        <p:spPr>
          <a:xfrm>
            <a:off x="10332720" y="6263640"/>
            <a:ext cx="1371600" cy="347878"/>
          </a:xfrm>
          <a:prstGeom prst="rect">
            <a:avLst/>
          </a:prstGeom>
        </p:spPr>
      </p:pic>
    </p:spTree>
  </p:cSld>
  <p:clrMapOvr>
    <a:masterClrMapping/>
  </p:clrMapOvr>
  <p:transition spd="fast">
    <p:fade/>
  </p:transition>
  <p:timing>
    <p:tnLst>
      <p:par>
        <p:cTn id="1" dur="indefinite" restart="never" nodeType="tmRoot">
          <p:childTnLst>
            <p:seq concurrent="1" nextAc="seek">
              <p:cTn id="2" dur="indefinite" nodeType="mainSeq">
                <p:childTnLst>
                  <p:par>
                    <p:cTn id="30" fill="hold">
                      <p:stCondLst>
                        <p:cond delay="indefinite"/>
                      </p:stCondLst>
                      <p:childTnLst>
                        <p:par>
                          <p:cTn id="31" fill="hold">
                            <p:stCondLst>
                              <p:cond delay="0"/>
                            </p:stCondLst>
                            <p:childTnLst>
                              <p:par>
                                <p:cTn id="3" presetID="10" presetClass="entr" presetSubtype="0" grpId="0" fill="hold" nodeType="click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150"/>
                                        <p:tgtEl>
                                          <p:spTgt spid="2"/>
                                        </p:tgtEl>
                                      </p:cBhvr>
                                    </p:animEffect>
                                  </p:childTnLst>
                                </p:cTn>
                              </p:par>
                              <p:par>
                                <p:cTn id="6" presetID="10" presetClass="entr" presetSubtype="0" grpId="0" fill="hold" nodeType="withEffect">
                                  <p:stCondLst>
                                    <p:cond delay="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150"/>
                                        <p:tgtEl>
                                          <p:spTgt spid="3"/>
                                        </p:tgtEl>
                                      </p:cBhvr>
                                    </p:animEffect>
                                  </p:childTnLst>
                                </p:cTn>
                              </p:par>
                              <p:par>
                                <p:cTn id="9" presetID="10" presetClass="entr" presetSubtype="0" grpId="0" fill="hold" nodeType="withEffect">
                                  <p:stCondLst>
                                    <p:cond delay="36"/>
                                  </p:stCondLst>
                                  <p:childTnLst>
                                    <p:set>
                                      <p:cBhvr>
                                        <p:cTn id="10" dur="1" fill="hold">
                                          <p:stCondLst>
                                            <p:cond delay="0"/>
                                          </p:stCondLst>
                                        </p:cTn>
                                        <p:tgtEl>
                                          <p:spTgt spid="22"/>
                                        </p:tgtEl>
                                        <p:attrNameLst>
                                          <p:attrName>style.visibility</p:attrName>
                                        </p:attrNameLst>
                                      </p:cBhvr>
                                      <p:to>
                                        <p:strVal val="visible"/>
                                      </p:to>
                                    </p:set>
                                    <p:animEffect transition="in" filter="fade">
                                      <p:cBhvr>
                                        <p:cTn id="11" dur="125"/>
                                        <p:tgtEl>
                                          <p:spTgt spid="22"/>
                                        </p:tgtEl>
                                      </p:cBhvr>
                                    </p:animEffect>
                                  </p:childTnLst>
                                </p:cTn>
                              </p:par>
                              <p:par>
                                <p:cTn id="12" presetID="10" presetClass="entr" presetSubtype="0" grpId="0" fill="hold" nodeType="withEffect">
                                  <p:stCondLst>
                                    <p:cond delay="6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50"/>
                                        <p:tgtEl>
                                          <p:spTgt spid="4"/>
                                        </p:tgtEl>
                                      </p:cBhvr>
                                    </p:animEffect>
                                  </p:childTnLst>
                                </p:cTn>
                              </p:par>
                              <p:par>
                                <p:cTn id="15" presetID="10" presetClass="entr" presetSubtype="0" grpId="0" fill="hold" nodeType="withEffect">
                                  <p:stCondLst>
                                    <p:cond delay="6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150"/>
                                        <p:tgtEl>
                                          <p:spTgt spid="5"/>
                                        </p:tgtEl>
                                      </p:cBhvr>
                                    </p:animEffect>
                                  </p:childTnLst>
                                </p:cTn>
                              </p:par>
                              <p:par>
                                <p:cTn id="18" presetID="10" presetClass="entr" presetSubtype="0" fill="hold" nodeType="withEffect">
                                  <p:stCondLst>
                                    <p:cond delay="60"/>
                                  </p:stCondLst>
                                  <p:childTnLst>
                                    <p:set>
                                      <p:cBhvr>
                                        <p:cTn id="19" dur="1" fill="hold">
                                          <p:stCondLst>
                                            <p:cond delay="0"/>
                                          </p:stCondLst>
                                        </p:cTn>
                                        <p:tgtEl>
                                          <p:spTgt spid="6"/>
                                        </p:tgtEl>
                                        <p:attrNameLst>
                                          <p:attrName>style.visibility</p:attrName>
                                        </p:attrNameLst>
                                      </p:cBhvr>
                                      <p:to>
                                        <p:strVal val="visible"/>
                                      </p:to>
                                    </p:set>
                                    <p:animEffect transition="in" filter="fade">
                                      <p:cBhvr>
                                        <p:cTn id="20" dur="150"/>
                                        <p:tgtEl>
                                          <p:spTgt spid="6"/>
                                        </p:tgtEl>
                                      </p:cBhvr>
                                    </p:animEffect>
                                  </p:childTnLst>
                                </p:cTn>
                              </p:par>
                              <p:par>
                                <p:cTn id="21" presetID="10" presetClass="entr" presetSubtype="0" grpId="0" fill="hold" nodeType="withEffect">
                                  <p:stCondLst>
                                    <p:cond delay="6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150"/>
                                        <p:tgtEl>
                                          <p:spTgt spid="7"/>
                                        </p:tgtEl>
                                      </p:cBhvr>
                                    </p:animEffect>
                                  </p:childTnLst>
                                </p:cTn>
                              </p:par>
                              <p:par>
                                <p:cTn id="24" presetID="10" presetClass="entr" presetSubtype="0" grpId="0" fill="hold" nodeType="withEffect">
                                  <p:stCondLst>
                                    <p:cond delay="6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150"/>
                                        <p:tgtEl>
                                          <p:spTgt spid="8"/>
                                        </p:tgtEl>
                                      </p:cBhvr>
                                    </p:animEffect>
                                  </p:childTnLst>
                                </p:cTn>
                              </p:par>
                              <p:par>
                                <p:cTn id="27" presetID="10" presetClass="entr" presetSubtype="0" grpId="0" fill="hold" nodeType="withEffect">
                                  <p:stCondLst>
                                    <p:cond delay="6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150"/>
                                        <p:tgtEl>
                                          <p:spTgt spid="9"/>
                                        </p:tgtEl>
                                      </p:cBhvr>
                                    </p:animEffect>
                                  </p:childTnLst>
                                </p:cTn>
                              </p:par>
                            </p:childTnLst>
                          </p:cTn>
                        </p:par>
                      </p:childTnLst>
                    </p:cTn>
                  </p:par>
                  <p:par>
                    <p:cTn id="68" fill="hold">
                      <p:stCondLst>
                        <p:cond delay="indefinite"/>
                      </p:stCondLst>
                      <p:childTnLst>
                        <p:par>
                          <p:cTn id="69" fill="hold">
                            <p:stCondLst>
                              <p:cond delay="0"/>
                            </p:stCondLst>
                            <p:childTnLst>
                              <p:par>
                                <p:cTn id="32" presetID="10" presetClass="entr" presetSubtype="0" grpId="0" fill="hold" nodeType="click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150"/>
                                        <p:tgtEl>
                                          <p:spTgt spid="10"/>
                                        </p:tgtEl>
                                      </p:cBhvr>
                                    </p:animEffect>
                                  </p:childTnLst>
                                </p:cTn>
                              </p:par>
                              <p:par>
                                <p:cTn id="35" presetID="10" presetClass="entr" presetSubtype="0" grpId="0" fill="hold" nodeType="with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150"/>
                                        <p:tgtEl>
                                          <p:spTgt spid="11"/>
                                        </p:tgtEl>
                                      </p:cBhvr>
                                    </p:animEffect>
                                  </p:childTnLst>
                                </p:cTn>
                              </p:par>
                              <p:par>
                                <p:cTn id="38" presetID="10" presetClass="entr" presetSubtype="0" fill="hold" nodeType="withEffect">
                                  <p:stCondLst>
                                    <p:cond delay="0"/>
                                  </p:stCondLst>
                                  <p:childTnLst>
                                    <p:set>
                                      <p:cBhvr>
                                        <p:cTn id="39" dur="1" fill="hold">
                                          <p:stCondLst>
                                            <p:cond delay="0"/>
                                          </p:stCondLst>
                                        </p:cTn>
                                        <p:tgtEl>
                                          <p:spTgt spid="12"/>
                                        </p:tgtEl>
                                        <p:attrNameLst>
                                          <p:attrName>style.visibility</p:attrName>
                                        </p:attrNameLst>
                                      </p:cBhvr>
                                      <p:to>
                                        <p:strVal val="visible"/>
                                      </p:to>
                                    </p:set>
                                    <p:animEffect transition="in" filter="fade">
                                      <p:cBhvr>
                                        <p:cTn id="40" dur="150"/>
                                        <p:tgtEl>
                                          <p:spTgt spid="12"/>
                                        </p:tgtEl>
                                      </p:cBhvr>
                                    </p:animEffect>
                                  </p:childTnLst>
                                </p:cTn>
                              </p:par>
                              <p:par>
                                <p:cTn id="41" presetID="10" presetClass="entr" presetSubtype="0" grpId="0" fill="hold" nodeType="withEffect">
                                  <p:stCondLst>
                                    <p:cond delay="0"/>
                                  </p:stCondLst>
                                  <p:childTnLst>
                                    <p:set>
                                      <p:cBhvr>
                                        <p:cTn id="42" dur="1" fill="hold">
                                          <p:stCondLst>
                                            <p:cond delay="0"/>
                                          </p:stCondLst>
                                        </p:cTn>
                                        <p:tgtEl>
                                          <p:spTgt spid="13"/>
                                        </p:tgtEl>
                                        <p:attrNameLst>
                                          <p:attrName>style.visibility</p:attrName>
                                        </p:attrNameLst>
                                      </p:cBhvr>
                                      <p:to>
                                        <p:strVal val="visible"/>
                                      </p:to>
                                    </p:set>
                                    <p:animEffect transition="in" filter="fade">
                                      <p:cBhvr>
                                        <p:cTn id="43" dur="150"/>
                                        <p:tgtEl>
                                          <p:spTgt spid="13"/>
                                        </p:tgtEl>
                                      </p:cBhvr>
                                    </p:animEffect>
                                  </p:childTnLst>
                                </p:cTn>
                              </p:par>
                              <p:par>
                                <p:cTn id="44" presetID="10" presetClass="entr" presetSubtype="0" grpId="0" fill="hold" nodeType="withEffect">
                                  <p:stCondLst>
                                    <p:cond delay="0"/>
                                  </p:stCondLst>
                                  <p:childTnLst>
                                    <p:set>
                                      <p:cBhvr>
                                        <p:cTn id="45" dur="1" fill="hold">
                                          <p:stCondLst>
                                            <p:cond delay="0"/>
                                          </p:stCondLst>
                                        </p:cTn>
                                        <p:tgtEl>
                                          <p:spTgt spid="14"/>
                                        </p:tgtEl>
                                        <p:attrNameLst>
                                          <p:attrName>style.visibility</p:attrName>
                                        </p:attrNameLst>
                                      </p:cBhvr>
                                      <p:to>
                                        <p:strVal val="visible"/>
                                      </p:to>
                                    </p:set>
                                    <p:animEffect transition="in" filter="fade">
                                      <p:cBhvr>
                                        <p:cTn id="46" dur="150"/>
                                        <p:tgtEl>
                                          <p:spTgt spid="14"/>
                                        </p:tgtEl>
                                      </p:cBhvr>
                                    </p:animEffect>
                                  </p:childTnLst>
                                </p:cTn>
                              </p:par>
                              <p:par>
                                <p:cTn id="47" presetID="10" presetClass="entr" presetSubtype="0" grpId="0" fill="hold" nodeType="withEffect">
                                  <p:stCondLst>
                                    <p:cond delay="0"/>
                                  </p:stCondLst>
                                  <p:childTnLst>
                                    <p:set>
                                      <p:cBhvr>
                                        <p:cTn id="48" dur="1" fill="hold">
                                          <p:stCondLst>
                                            <p:cond delay="0"/>
                                          </p:stCondLst>
                                        </p:cTn>
                                        <p:tgtEl>
                                          <p:spTgt spid="15"/>
                                        </p:tgtEl>
                                        <p:attrNameLst>
                                          <p:attrName>style.visibility</p:attrName>
                                        </p:attrNameLst>
                                      </p:cBhvr>
                                      <p:to>
                                        <p:strVal val="visible"/>
                                      </p:to>
                                    </p:set>
                                    <p:animEffect transition="in" filter="fade">
                                      <p:cBhvr>
                                        <p:cTn id="49" dur="150"/>
                                        <p:tgtEl>
                                          <p:spTgt spid="15"/>
                                        </p:tgtEl>
                                      </p:cBhvr>
                                    </p:animEffect>
                                  </p:childTnLst>
                                </p:cTn>
                              </p:par>
                              <p:par>
                                <p:cTn id="50" presetID="10" presetClass="entr" presetSubtype="0" grpId="0" fill="hold" nodeType="withEffect">
                                  <p:stCondLst>
                                    <p:cond delay="144"/>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150"/>
                                        <p:tgtEl>
                                          <p:spTgt spid="16"/>
                                        </p:tgtEl>
                                      </p:cBhvr>
                                    </p:animEffect>
                                  </p:childTnLst>
                                </p:cTn>
                              </p:par>
                              <p:par>
                                <p:cTn id="53" presetID="10" presetClass="entr" presetSubtype="0" grpId="0" fill="hold" nodeType="withEffect">
                                  <p:stCondLst>
                                    <p:cond delay="144"/>
                                  </p:stCondLst>
                                  <p:childTnLst>
                                    <p:set>
                                      <p:cBhvr>
                                        <p:cTn id="54" dur="1" fill="hold">
                                          <p:stCondLst>
                                            <p:cond delay="0"/>
                                          </p:stCondLst>
                                        </p:cTn>
                                        <p:tgtEl>
                                          <p:spTgt spid="17"/>
                                        </p:tgtEl>
                                        <p:attrNameLst>
                                          <p:attrName>style.visibility</p:attrName>
                                        </p:attrNameLst>
                                      </p:cBhvr>
                                      <p:to>
                                        <p:strVal val="visible"/>
                                      </p:to>
                                    </p:set>
                                    <p:animEffect transition="in" filter="fade">
                                      <p:cBhvr>
                                        <p:cTn id="55" dur="150"/>
                                        <p:tgtEl>
                                          <p:spTgt spid="17"/>
                                        </p:tgtEl>
                                      </p:cBhvr>
                                    </p:animEffect>
                                  </p:childTnLst>
                                </p:cTn>
                              </p:par>
                              <p:par>
                                <p:cTn id="56" presetID="10" presetClass="entr" presetSubtype="0" fill="hold" nodeType="withEffect">
                                  <p:stCondLst>
                                    <p:cond delay="144"/>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150"/>
                                        <p:tgtEl>
                                          <p:spTgt spid="18"/>
                                        </p:tgtEl>
                                      </p:cBhvr>
                                    </p:animEffect>
                                  </p:childTnLst>
                                </p:cTn>
                              </p:par>
                              <p:par>
                                <p:cTn id="59" presetID="10" presetClass="entr" presetSubtype="0" grpId="0" fill="hold" nodeType="withEffect">
                                  <p:stCondLst>
                                    <p:cond delay="144"/>
                                  </p:stCondLst>
                                  <p:childTnLst>
                                    <p:set>
                                      <p:cBhvr>
                                        <p:cTn id="60" dur="1" fill="hold">
                                          <p:stCondLst>
                                            <p:cond delay="0"/>
                                          </p:stCondLst>
                                        </p:cTn>
                                        <p:tgtEl>
                                          <p:spTgt spid="19"/>
                                        </p:tgtEl>
                                        <p:attrNameLst>
                                          <p:attrName>style.visibility</p:attrName>
                                        </p:attrNameLst>
                                      </p:cBhvr>
                                      <p:to>
                                        <p:strVal val="visible"/>
                                      </p:to>
                                    </p:set>
                                    <p:animEffect transition="in" filter="fade">
                                      <p:cBhvr>
                                        <p:cTn id="61" dur="150"/>
                                        <p:tgtEl>
                                          <p:spTgt spid="19"/>
                                        </p:tgtEl>
                                      </p:cBhvr>
                                    </p:animEffect>
                                  </p:childTnLst>
                                </p:cTn>
                              </p:par>
                              <p:par>
                                <p:cTn id="62" presetID="10" presetClass="entr" presetSubtype="0" grpId="0" fill="hold" nodeType="withEffect">
                                  <p:stCondLst>
                                    <p:cond delay="144"/>
                                  </p:stCondLst>
                                  <p:childTnLst>
                                    <p:set>
                                      <p:cBhvr>
                                        <p:cTn id="63" dur="1" fill="hold">
                                          <p:stCondLst>
                                            <p:cond delay="0"/>
                                          </p:stCondLst>
                                        </p:cTn>
                                        <p:tgtEl>
                                          <p:spTgt spid="20"/>
                                        </p:tgtEl>
                                        <p:attrNameLst>
                                          <p:attrName>style.visibility</p:attrName>
                                        </p:attrNameLst>
                                      </p:cBhvr>
                                      <p:to>
                                        <p:strVal val="visible"/>
                                      </p:to>
                                    </p:set>
                                    <p:animEffect transition="in" filter="fade">
                                      <p:cBhvr>
                                        <p:cTn id="64" dur="150"/>
                                        <p:tgtEl>
                                          <p:spTgt spid="20"/>
                                        </p:tgtEl>
                                      </p:cBhvr>
                                    </p:animEffect>
                                  </p:childTnLst>
                                </p:cTn>
                              </p:par>
                              <p:par>
                                <p:cTn id="65" presetID="10" presetClass="entr" presetSubtype="0" grpId="0" fill="hold" nodeType="withEffect">
                                  <p:stCondLst>
                                    <p:cond delay="144"/>
                                  </p:stCondLst>
                                  <p:childTnLst>
                                    <p:set>
                                      <p:cBhvr>
                                        <p:cTn id="66" dur="1" fill="hold">
                                          <p:stCondLst>
                                            <p:cond delay="0"/>
                                          </p:stCondLst>
                                        </p:cTn>
                                        <p:tgtEl>
                                          <p:spTgt spid="21"/>
                                        </p:tgtEl>
                                        <p:attrNameLst>
                                          <p:attrName>style.visibility</p:attrName>
                                        </p:attrNameLst>
                                      </p:cBhvr>
                                      <p:to>
                                        <p:strVal val="visible"/>
                                      </p:to>
                                    </p:set>
                                    <p:animEffect transition="in" filter="fade">
                                      <p:cBhvr>
                                        <p:cTn id="67" dur="1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22" grpId="0"/>
      <p:bldP spid="4" grpId="0" animBg="1"/>
      <p:bldP spid="5" grpId="0" animBg="1"/>
      <p:bldP spid="7" grpId="0"/>
      <p:bldP spid="8" grpId="0"/>
      <p:bldP spid="9" grpId="0"/>
      <p:bldP spid="10" grpId="0" animBg="1"/>
      <p:bldP spid="11" grpId="0" animBg="1"/>
      <p:bldP spid="13" grpId="0"/>
      <p:bldP spid="14" grpId="0"/>
      <p:bldP spid="15" grpId="0"/>
      <p:bldP spid="16" grpId="0" animBg="1"/>
      <p:bldP spid="17" grpId="0" animBg="1"/>
      <p:bldP spid="19" grpId="0"/>
      <p:bldP spid="20" grpId="0"/>
      <p:bldP spid="21" grpId="0"/>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5F7"/>
        </a:solidFill>
      </p:bgPr>
    </p:bg>
    <p:spTree>
      <p:nvGrpSpPr>
        <p:cNvPr id="1" name=""/>
        <p:cNvGrpSpPr/>
        <p:nvPr/>
      </p:nvGrpSpPr>
      <p:grpSpPr>
        <a:xfrm>
          <a:off x="0" y="0"/>
          <a:ext cx="0" cy="0"/>
          <a:chOff x="0" y="0"/>
          <a:chExt cx="0" cy="0"/>
        </a:xfrm>
      </p:grpSpPr>
      <p:sp>
        <p:nvSpPr>
          <p:cNvPr id="2" name="tt9|121"/>
          <p:cNvSpPr txBox="1"/>
          <p:nvPr/>
        </p:nvSpPr>
        <p:spPr>
          <a:xfrm>
            <a:off x="548640" y="274320"/>
            <a:ext cx="9144000" cy="548640"/>
          </a:xfrm>
          <a:prstGeom prst="rect">
            <a:avLst/>
          </a:prstGeom>
          <a:noFill/>
          <a:ln/>
        </p:spPr>
        <p:txBody>
          <a:bodyPr wrap="square" lIns="0" tIns="0" rIns="0" bIns="0" rtlCol="0" anchor="t"/>
          <a:lstStyle/>
          <a:p>
            <a:pPr indent="0" marL="0">
              <a:buNone/>
            </a:pPr>
            <a:r>
              <a:rPr lang="en-US" sz="2800" b="1" dirty="0">
                <a:solidFill>
                  <a:srgbClr val="000000"/>
                </a:solidFill>
                <a:latin typeface="Arial" pitchFamily="34" charset="0"/>
                <a:ea typeface="Arial" pitchFamily="34" charset="-122"/>
                <a:cs typeface="Arial" pitchFamily="34" charset="-120"/>
              </a:rPr>
              <a:t>En resumen: </a:t>
            </a:r>
            <a:pPr indent="0" marL="0">
              <a:buNone/>
            </a:pPr>
            <a:r>
              <a:rPr lang="en-US" sz="2800" b="1" dirty="0">
                <a:solidFill>
                  <a:srgbClr val="E10098"/>
                </a:solidFill>
                <a:latin typeface="Arial" pitchFamily="34" charset="0"/>
                <a:ea typeface="Arial" pitchFamily="34" charset="-122"/>
                <a:cs typeface="Arial" pitchFamily="34" charset="-120"/>
              </a:rPr>
              <a:t>esta vez, alguien lo vio.</a:t>
            </a:r>
            <a:endParaRPr lang="en-US" sz="2800" dirty="0"/>
          </a:p>
        </p:txBody>
      </p:sp>
      <p:pic>
        <p:nvPicPr>
          <p:cNvPr id="3" name="logo|122" descr="Logo de Liverpool">    </p:cNvPr>
          <p:cNvPicPr>
            <a:picLocks noChangeAspect="1"/>
          </p:cNvPicPr>
          <p:nvPr/>
        </p:nvPicPr>
        <p:blipFill>
          <a:blip r:embed="rId1"/>
          <a:stretch>
            <a:fillRect/>
          </a:stretch>
        </p:blipFill>
        <p:spPr>
          <a:xfrm>
            <a:off x="10332720" y="329184"/>
            <a:ext cx="1325880" cy="336282"/>
          </a:xfrm>
          <a:prstGeom prst="rect">
            <a:avLst/>
          </a:prstGeom>
        </p:spPr>
      </p:pic>
      <p:sp>
        <p:nvSpPr>
          <p:cNvPr id="4" name="sm1|123"/>
          <p:cNvSpPr/>
          <p:nvPr/>
        </p:nvSpPr>
        <p:spPr>
          <a:xfrm>
            <a:off x="548640" y="960120"/>
            <a:ext cx="3566160" cy="2606040"/>
          </a:xfrm>
          <a:prstGeom prst="roundRect">
            <a:avLst>
              <a:gd name="adj" fmla="val 9825"/>
            </a:avLst>
          </a:prstGeom>
          <a:solidFill>
            <a:srgbClr val="FFFFFF"/>
          </a:solidFill>
          <a:ln w="12700">
            <a:solidFill>
              <a:srgbClr val="FFFFFF"/>
            </a:solidFill>
            <a:prstDash val="solid"/>
          </a:ln>
          <a:effectLst>
            <a:outerShdw sx="100000" sy="100000" kx="0" ky="0" algn="bl" rotWithShape="0" blurRad="127000" dist="25400" dir="5400000">
              <a:srgbClr val="000000">
                <a:alpha val="7000"/>
              </a:srgbClr>
            </a:outerShdw>
          </a:effectLst>
        </p:spPr>
      </p:sp>
      <p:sp>
        <p:nvSpPr>
          <p:cNvPr id="5" name="sm1|124"/>
          <p:cNvSpPr txBox="1"/>
          <p:nvPr/>
        </p:nvSpPr>
        <p:spPr>
          <a:xfrm>
            <a:off x="777240" y="1161288"/>
            <a:ext cx="3108960" cy="594360"/>
          </a:xfrm>
          <a:prstGeom prst="rect">
            <a:avLst/>
          </a:prstGeom>
          <a:noFill/>
          <a:ln/>
        </p:spPr>
        <p:txBody>
          <a:bodyPr wrap="square" lIns="0" tIns="0" rIns="0" bIns="0" rtlCol="0" anchor="t"/>
          <a:lstStyle/>
          <a:p>
            <a:pPr algn="ctr" indent="0" marL="0">
              <a:buNone/>
            </a:pPr>
            <a:r>
              <a:rPr lang="en-US" sz="1500" dirty="0">
                <a:solidFill>
                  <a:srgbClr val="4D4D4D"/>
                </a:solidFill>
                <a:latin typeface="Arial" pitchFamily="34" charset="0"/>
                <a:ea typeface="Arial" pitchFamily="34" charset="-122"/>
                <a:cs typeface="Arial" pitchFamily="34" charset="-120"/>
              </a:rPr>
              <a:t>Mariana esperó 6 días sin respuesta</a:t>
            </a:r>
            <a:endParaRPr lang="en-US" sz="1500" dirty="0"/>
          </a:p>
        </p:txBody>
      </p:sp>
      <p:pic>
        <p:nvPicPr>
          <p:cNvPr id="6" name="sm1|125" descr="Manos con celular y reloj: día 6, 0 mensajes">    </p:cNvPr>
          <p:cNvPicPr>
            <a:picLocks noChangeAspect="1"/>
          </p:cNvPicPr>
          <p:nvPr/>
        </p:nvPicPr>
        <p:blipFill>
          <a:blip r:embed="rId2"/>
          <a:stretch>
            <a:fillRect/>
          </a:stretch>
        </p:blipFill>
        <p:spPr>
          <a:xfrm>
            <a:off x="1485900" y="1783080"/>
            <a:ext cx="1691640" cy="1691640"/>
          </a:xfrm>
          <a:prstGeom prst="rect">
            <a:avLst/>
          </a:prstGeom>
        </p:spPr>
      </p:pic>
      <p:sp>
        <p:nvSpPr>
          <p:cNvPr id="7" name="sm2|126"/>
          <p:cNvSpPr/>
          <p:nvPr/>
        </p:nvSpPr>
        <p:spPr>
          <a:xfrm>
            <a:off x="4315968" y="960120"/>
            <a:ext cx="3566160" cy="2606040"/>
          </a:xfrm>
          <a:prstGeom prst="roundRect">
            <a:avLst>
              <a:gd name="adj" fmla="val 9825"/>
            </a:avLst>
          </a:prstGeom>
          <a:solidFill>
            <a:srgbClr val="FFFFFF"/>
          </a:solidFill>
          <a:ln w="12700">
            <a:solidFill>
              <a:srgbClr val="FFFFFF"/>
            </a:solidFill>
            <a:prstDash val="solid"/>
          </a:ln>
          <a:effectLst>
            <a:outerShdw sx="100000" sy="100000" kx="0" ky="0" algn="bl" rotWithShape="0" blurRad="127000" dist="25400" dir="5400000">
              <a:srgbClr val="000000">
                <a:alpha val="7000"/>
              </a:srgbClr>
            </a:outerShdw>
          </a:effectLst>
        </p:spPr>
      </p:sp>
      <p:sp>
        <p:nvSpPr>
          <p:cNvPr id="8" name="sm2|127"/>
          <p:cNvSpPr txBox="1"/>
          <p:nvPr/>
        </p:nvSpPr>
        <p:spPr>
          <a:xfrm>
            <a:off x="4544568" y="1161288"/>
            <a:ext cx="3108960" cy="594360"/>
          </a:xfrm>
          <a:prstGeom prst="rect">
            <a:avLst/>
          </a:prstGeom>
          <a:noFill/>
          <a:ln/>
        </p:spPr>
        <p:txBody>
          <a:bodyPr wrap="square" lIns="0" tIns="0" rIns="0" bIns="0" rtlCol="0" anchor="t"/>
          <a:lstStyle/>
          <a:p>
            <a:pPr algn="ctr" indent="0" marL="0">
              <a:buNone/>
            </a:pPr>
            <a:r>
              <a:rPr lang="en-US" sz="1500" dirty="0">
                <a:solidFill>
                  <a:srgbClr val="4D4D4D"/>
                </a:solidFill>
                <a:latin typeface="Arial" pitchFamily="34" charset="0"/>
                <a:ea typeface="Arial" pitchFamily="34" charset="-122"/>
                <a:cs typeface="Arial" pitchFamily="34" charset="-120"/>
              </a:rPr>
              <a:t>Abandonan por falta de seguimiento</a:t>
            </a:r>
            <a:endParaRPr lang="en-US" sz="1500" dirty="0"/>
          </a:p>
        </p:txBody>
      </p:sp>
      <p:sp>
        <p:nvSpPr>
          <p:cNvPr id="9" name="sm2|128"/>
          <p:cNvSpPr txBox="1"/>
          <p:nvPr/>
        </p:nvSpPr>
        <p:spPr>
          <a:xfrm>
            <a:off x="4315968" y="1737360"/>
            <a:ext cx="3566160" cy="1188720"/>
          </a:xfrm>
          <a:prstGeom prst="rect">
            <a:avLst/>
          </a:prstGeom>
          <a:noFill/>
          <a:ln/>
        </p:spPr>
        <p:txBody>
          <a:bodyPr wrap="square" lIns="0" tIns="0" rIns="0" bIns="0" rtlCol="0" anchor="t"/>
          <a:lstStyle/>
          <a:p>
            <a:pPr algn="ctr" indent="0" marL="0">
              <a:buNone/>
            </a:pPr>
            <a:r>
              <a:rPr lang="en-US" sz="7600" b="1" dirty="0">
                <a:solidFill>
                  <a:srgbClr val="E10098"/>
                </a:solidFill>
                <a:latin typeface="Arial" pitchFamily="34" charset="0"/>
                <a:ea typeface="Arial" pitchFamily="34" charset="-122"/>
                <a:cs typeface="Arial" pitchFamily="34" charset="-120"/>
              </a:rPr>
              <a:t>38%</a:t>
            </a:r>
            <a:endParaRPr lang="en-US" sz="7600" dirty="0"/>
          </a:p>
        </p:txBody>
      </p:sp>
      <p:sp>
        <p:nvSpPr>
          <p:cNvPr id="10" name="sm2|129"/>
          <p:cNvSpPr txBox="1"/>
          <p:nvPr/>
        </p:nvSpPr>
        <p:spPr>
          <a:xfrm>
            <a:off x="4590288" y="2971800"/>
            <a:ext cx="3017520" cy="548640"/>
          </a:xfrm>
          <a:prstGeom prst="rect">
            <a:avLst/>
          </a:prstGeom>
          <a:noFill/>
          <a:ln/>
        </p:spPr>
        <p:txBody>
          <a:bodyPr wrap="square" lIns="0" tIns="0" rIns="0" bIns="0" rtlCol="0" anchor="t"/>
          <a:lstStyle/>
          <a:p>
            <a:pPr algn="ctr" indent="0" marL="0">
              <a:buNone/>
            </a:pPr>
            <a:r>
              <a:rPr lang="en-US" sz="1300" dirty="0">
                <a:solidFill>
                  <a:srgbClr val="666666"/>
                </a:solidFill>
                <a:latin typeface="Arial" pitchFamily="34" charset="0"/>
                <a:ea typeface="Arial" pitchFamily="34" charset="-122"/>
                <a:cs typeface="Arial" pitchFamily="34" charset="-120"/>
              </a:rPr>
              <a:t>de los candidatos en México</a:t>
            </a:r>
            <a:endParaRPr lang="en-US" sz="1300" dirty="0"/>
          </a:p>
        </p:txBody>
      </p:sp>
      <p:sp>
        <p:nvSpPr>
          <p:cNvPr id="11" name="sm3|130"/>
          <p:cNvSpPr/>
          <p:nvPr/>
        </p:nvSpPr>
        <p:spPr>
          <a:xfrm>
            <a:off x="8083296" y="960120"/>
            <a:ext cx="3566160" cy="2606040"/>
          </a:xfrm>
          <a:prstGeom prst="roundRect">
            <a:avLst>
              <a:gd name="adj" fmla="val 9825"/>
            </a:avLst>
          </a:prstGeom>
          <a:solidFill>
            <a:srgbClr val="FFFFFF"/>
          </a:solidFill>
          <a:ln w="12700">
            <a:solidFill>
              <a:srgbClr val="FFFFFF"/>
            </a:solidFill>
            <a:prstDash val="solid"/>
          </a:ln>
          <a:effectLst>
            <a:outerShdw sx="100000" sy="100000" kx="0" ky="0" algn="bl" rotWithShape="0" blurRad="127000" dist="25400" dir="5400000">
              <a:srgbClr val="000000">
                <a:alpha val="7000"/>
              </a:srgbClr>
            </a:outerShdw>
          </a:effectLst>
        </p:spPr>
      </p:sp>
      <p:sp>
        <p:nvSpPr>
          <p:cNvPr id="12" name="sm3|131"/>
          <p:cNvSpPr txBox="1"/>
          <p:nvPr/>
        </p:nvSpPr>
        <p:spPr>
          <a:xfrm>
            <a:off x="8311896" y="1161288"/>
            <a:ext cx="3108960" cy="594360"/>
          </a:xfrm>
          <a:prstGeom prst="rect">
            <a:avLst/>
          </a:prstGeom>
          <a:noFill/>
          <a:ln/>
        </p:spPr>
        <p:txBody>
          <a:bodyPr wrap="square" lIns="0" tIns="0" rIns="0" bIns="0" rtlCol="0" anchor="t"/>
          <a:lstStyle/>
          <a:p>
            <a:pPr algn="ctr" indent="0" marL="0">
              <a:buNone/>
            </a:pPr>
            <a:r>
              <a:rPr lang="en-US" sz="1500" dirty="0">
                <a:solidFill>
                  <a:srgbClr val="4D4D4D"/>
                </a:solidFill>
                <a:latin typeface="Arial" pitchFamily="34" charset="0"/>
                <a:ea typeface="Arial" pitchFamily="34" charset="-122"/>
                <a:cs typeface="Arial" pitchFamily="34" charset="-120"/>
              </a:rPr>
              <a:t>No es actitud: es invisibilidad</a:t>
            </a:r>
            <a:endParaRPr lang="en-US" sz="1500" dirty="0"/>
          </a:p>
        </p:txBody>
      </p:sp>
      <p:sp>
        <p:nvSpPr>
          <p:cNvPr id="13" name="sm3|132"/>
          <p:cNvSpPr txBox="1"/>
          <p:nvPr/>
        </p:nvSpPr>
        <p:spPr>
          <a:xfrm>
            <a:off x="8083296" y="1783080"/>
            <a:ext cx="3566160" cy="1051560"/>
          </a:xfrm>
          <a:prstGeom prst="rect">
            <a:avLst/>
          </a:prstGeom>
          <a:noFill/>
          <a:ln/>
        </p:spPr>
        <p:txBody>
          <a:bodyPr wrap="square" lIns="0" tIns="0" rIns="0" bIns="0" rtlCol="0" anchor="t"/>
          <a:lstStyle/>
          <a:p>
            <a:pPr algn="ctr" indent="0" marL="0">
              <a:buNone/>
            </a:pPr>
            <a:r>
              <a:rPr lang="en-US" sz="5600" b="1" dirty="0">
                <a:solidFill>
                  <a:srgbClr val="E10098"/>
                </a:solidFill>
                <a:latin typeface="Arial" pitchFamily="34" charset="0"/>
                <a:ea typeface="Arial" pitchFamily="34" charset="-122"/>
                <a:cs typeface="Arial" pitchFamily="34" charset="-120"/>
              </a:rPr>
              <a:t>52 días</a:t>
            </a:r>
            <a:endParaRPr lang="en-US" sz="5600" dirty="0"/>
          </a:p>
        </p:txBody>
      </p:sp>
      <p:sp>
        <p:nvSpPr>
          <p:cNvPr id="14" name="sm3|133"/>
          <p:cNvSpPr txBox="1"/>
          <p:nvPr/>
        </p:nvSpPr>
        <p:spPr>
          <a:xfrm>
            <a:off x="8357616" y="2834640"/>
            <a:ext cx="3017520" cy="548640"/>
          </a:xfrm>
          <a:prstGeom prst="rect">
            <a:avLst/>
          </a:prstGeom>
          <a:noFill/>
          <a:ln/>
        </p:spPr>
        <p:txBody>
          <a:bodyPr wrap="square" lIns="0" tIns="0" rIns="0" bIns="0" rtlCol="0" anchor="t"/>
          <a:lstStyle/>
          <a:p>
            <a:pPr algn="ctr" indent="0" marL="0">
              <a:buNone/>
            </a:pPr>
            <a:r>
              <a:rPr lang="en-US" sz="1300" dirty="0">
                <a:solidFill>
                  <a:srgbClr val="666666"/>
                </a:solidFill>
                <a:latin typeface="Arial" pitchFamily="34" charset="0"/>
                <a:ea typeface="Arial" pitchFamily="34" charset="-122"/>
                <a:cs typeface="Arial" pitchFamily="34" charset="-120"/>
              </a:rPr>
              <a:t>en vez de 4 semanas. El 80 % de RH cree entender la vacante; el 61 % de los HM, no</a:t>
            </a:r>
            <a:endParaRPr lang="en-US" sz="1300" dirty="0"/>
          </a:p>
        </p:txBody>
      </p:sp>
      <p:sp>
        <p:nvSpPr>
          <p:cNvPr id="15" name="sm4|134"/>
          <p:cNvSpPr/>
          <p:nvPr/>
        </p:nvSpPr>
        <p:spPr>
          <a:xfrm>
            <a:off x="548640" y="3767328"/>
            <a:ext cx="3566160" cy="2606040"/>
          </a:xfrm>
          <a:prstGeom prst="roundRect">
            <a:avLst>
              <a:gd name="adj" fmla="val 9825"/>
            </a:avLst>
          </a:prstGeom>
          <a:solidFill>
            <a:srgbClr val="FFFFFF"/>
          </a:solidFill>
          <a:ln w="12700">
            <a:solidFill>
              <a:srgbClr val="FFFFFF"/>
            </a:solidFill>
            <a:prstDash val="solid"/>
          </a:ln>
          <a:effectLst>
            <a:outerShdw sx="100000" sy="100000" kx="0" ky="0" algn="bl" rotWithShape="0" blurRad="127000" dist="25400" dir="5400000">
              <a:srgbClr val="000000">
                <a:alpha val="7000"/>
              </a:srgbClr>
            </a:outerShdw>
          </a:effectLst>
        </p:spPr>
      </p:sp>
      <p:sp>
        <p:nvSpPr>
          <p:cNvPr id="16" name="sm4|135"/>
          <p:cNvSpPr txBox="1"/>
          <p:nvPr/>
        </p:nvSpPr>
        <p:spPr>
          <a:xfrm>
            <a:off x="777240" y="3968496"/>
            <a:ext cx="3108960" cy="594360"/>
          </a:xfrm>
          <a:prstGeom prst="rect">
            <a:avLst/>
          </a:prstGeom>
          <a:noFill/>
          <a:ln/>
        </p:spPr>
        <p:txBody>
          <a:bodyPr wrap="square" lIns="0" tIns="0" rIns="0" bIns="0" rtlCol="0" anchor="t"/>
          <a:lstStyle/>
          <a:p>
            <a:pPr algn="ctr" indent="0" marL="0">
              <a:buNone/>
            </a:pPr>
            <a:r>
              <a:rPr lang="en-US" sz="1500" dirty="0">
                <a:solidFill>
                  <a:srgbClr val="4D4D4D"/>
                </a:solidFill>
                <a:latin typeface="Arial" pitchFamily="34" charset="0"/>
                <a:ea typeface="Arial" pitchFamily="34" charset="-122"/>
                <a:cs typeface="Arial" pitchFamily="34" charset="-120"/>
              </a:rPr>
              <a:t>Alinear: el BP solo valida lo que pide el HM</a:t>
            </a:r>
            <a:endParaRPr lang="en-US" sz="1500" dirty="0"/>
          </a:p>
        </p:txBody>
      </p:sp>
      <p:pic>
        <p:nvPicPr>
          <p:cNvPr id="17" name="sm4|136" descr="Pantalla del BP: requisición por validar">    </p:cNvPr>
          <p:cNvPicPr>
            <a:picLocks noChangeAspect="1"/>
          </p:cNvPicPr>
          <p:nvPr/>
        </p:nvPicPr>
        <p:blipFill>
          <a:blip r:embed="rId3"/>
          <a:stretch>
            <a:fillRect/>
          </a:stretch>
        </p:blipFill>
        <p:spPr>
          <a:xfrm>
            <a:off x="845820" y="4498848"/>
            <a:ext cx="2971800" cy="1793328"/>
          </a:xfrm>
          <a:prstGeom prst="rect">
            <a:avLst/>
          </a:prstGeom>
        </p:spPr>
      </p:pic>
      <p:sp>
        <p:nvSpPr>
          <p:cNvPr id="18" name="sm5|137"/>
          <p:cNvSpPr/>
          <p:nvPr/>
        </p:nvSpPr>
        <p:spPr>
          <a:xfrm>
            <a:off x="4315968" y="3767328"/>
            <a:ext cx="3566160" cy="2606040"/>
          </a:xfrm>
          <a:prstGeom prst="roundRect">
            <a:avLst>
              <a:gd name="adj" fmla="val 9825"/>
            </a:avLst>
          </a:prstGeom>
          <a:solidFill>
            <a:srgbClr val="FFFFFF"/>
          </a:solidFill>
          <a:ln w="12700">
            <a:solidFill>
              <a:srgbClr val="FFFFFF"/>
            </a:solidFill>
            <a:prstDash val="solid"/>
          </a:ln>
          <a:effectLst>
            <a:outerShdw sx="100000" sy="100000" kx="0" ky="0" algn="bl" rotWithShape="0" blurRad="127000" dist="25400" dir="5400000">
              <a:srgbClr val="000000">
                <a:alpha val="7000"/>
              </a:srgbClr>
            </a:outerShdw>
          </a:effectLst>
        </p:spPr>
      </p:sp>
      <p:sp>
        <p:nvSpPr>
          <p:cNvPr id="19" name="sm5|138"/>
          <p:cNvSpPr txBox="1"/>
          <p:nvPr/>
        </p:nvSpPr>
        <p:spPr>
          <a:xfrm>
            <a:off x="4544568" y="3968496"/>
            <a:ext cx="3108960" cy="594360"/>
          </a:xfrm>
          <a:prstGeom prst="rect">
            <a:avLst/>
          </a:prstGeom>
          <a:noFill/>
          <a:ln/>
        </p:spPr>
        <p:txBody>
          <a:bodyPr wrap="square" lIns="0" tIns="0" rIns="0" bIns="0" rtlCol="0" anchor="t"/>
          <a:lstStyle/>
          <a:p>
            <a:pPr algn="ctr" indent="0" marL="0">
              <a:buNone/>
            </a:pPr>
            <a:r>
              <a:rPr lang="en-US" sz="1500" dirty="0">
                <a:solidFill>
                  <a:srgbClr val="4D4D4D"/>
                </a:solidFill>
                <a:latin typeface="Arial" pitchFamily="34" charset="0"/>
                <a:ea typeface="Arial" pitchFamily="34" charset="-122"/>
                <a:cs typeface="Arial" pitchFamily="34" charset="-120"/>
              </a:rPr>
              <a:t>Ver: cada etapa con dueño y semáforo</a:t>
            </a:r>
            <a:endParaRPr lang="en-US" sz="1500" dirty="0"/>
          </a:p>
        </p:txBody>
      </p:sp>
      <p:pic>
        <p:nvPicPr>
          <p:cNvPr id="20" name="sm5|139" descr="Pantalla del BP: semáforo de vacantes">    </p:cNvPr>
          <p:cNvPicPr>
            <a:picLocks noChangeAspect="1"/>
          </p:cNvPicPr>
          <p:nvPr/>
        </p:nvPicPr>
        <p:blipFill>
          <a:blip r:embed="rId4"/>
          <a:stretch>
            <a:fillRect/>
          </a:stretch>
        </p:blipFill>
        <p:spPr>
          <a:xfrm>
            <a:off x="4498848" y="4636008"/>
            <a:ext cx="3200400" cy="1506071"/>
          </a:xfrm>
          <a:prstGeom prst="rect">
            <a:avLst/>
          </a:prstGeom>
        </p:spPr>
      </p:pic>
      <p:sp>
        <p:nvSpPr>
          <p:cNvPr id="21" name="sm6|140"/>
          <p:cNvSpPr/>
          <p:nvPr/>
        </p:nvSpPr>
        <p:spPr>
          <a:xfrm>
            <a:off x="8083296" y="3767328"/>
            <a:ext cx="3566160" cy="2606040"/>
          </a:xfrm>
          <a:prstGeom prst="roundRect">
            <a:avLst>
              <a:gd name="adj" fmla="val 9825"/>
            </a:avLst>
          </a:prstGeom>
          <a:solidFill>
            <a:srgbClr val="FFFFFF"/>
          </a:solidFill>
          <a:ln w="12700">
            <a:solidFill>
              <a:srgbClr val="FFFFFF"/>
            </a:solidFill>
            <a:prstDash val="solid"/>
          </a:ln>
          <a:effectLst>
            <a:outerShdw sx="100000" sy="100000" kx="0" ky="0" algn="bl" rotWithShape="0" blurRad="127000" dist="25400" dir="5400000">
              <a:srgbClr val="000000">
                <a:alpha val="7000"/>
              </a:srgbClr>
            </a:outerShdw>
          </a:effectLst>
        </p:spPr>
      </p:sp>
      <p:sp>
        <p:nvSpPr>
          <p:cNvPr id="22" name="sm6|141"/>
          <p:cNvSpPr txBox="1"/>
          <p:nvPr/>
        </p:nvSpPr>
        <p:spPr>
          <a:xfrm>
            <a:off x="8311896" y="3968496"/>
            <a:ext cx="3108960" cy="594360"/>
          </a:xfrm>
          <a:prstGeom prst="rect">
            <a:avLst/>
          </a:prstGeom>
          <a:noFill/>
          <a:ln/>
        </p:spPr>
        <p:txBody>
          <a:bodyPr wrap="square" lIns="0" tIns="0" rIns="0" bIns="0" rtlCol="0" anchor="t"/>
          <a:lstStyle/>
          <a:p>
            <a:pPr algn="ctr" indent="0" marL="0">
              <a:buNone/>
            </a:pPr>
            <a:r>
              <a:rPr lang="en-US" sz="1500" dirty="0">
                <a:solidFill>
                  <a:srgbClr val="4D4D4D"/>
                </a:solidFill>
                <a:latin typeface="Arial" pitchFamily="34" charset="0"/>
                <a:ea typeface="Arial" pitchFamily="34" charset="-122"/>
                <a:cs typeface="Arial" pitchFamily="34" charset="-120"/>
              </a:rPr>
              <a:t>Decidir: IA explicable y evidencia</a:t>
            </a:r>
            <a:endParaRPr lang="en-US" sz="1500" dirty="0"/>
          </a:p>
        </p:txBody>
      </p:sp>
      <p:pic>
        <p:nvPicPr>
          <p:cNvPr id="23" name="sm6|142" descr="Ranking de compatibilidad con IA: Mariana primera">    </p:cNvPr>
          <p:cNvPicPr>
            <a:picLocks noChangeAspect="1"/>
          </p:cNvPicPr>
          <p:nvPr/>
        </p:nvPicPr>
        <p:blipFill>
          <a:blip r:embed="rId5"/>
          <a:stretch>
            <a:fillRect/>
          </a:stretch>
        </p:blipFill>
        <p:spPr>
          <a:xfrm>
            <a:off x="8266176" y="4636008"/>
            <a:ext cx="3200400" cy="1506071"/>
          </a:xfrm>
          <a:prstGeom prst="rect">
            <a:avLst/>
          </a:prstGeom>
        </p:spPr>
      </p:pic>
    </p:spTree>
  </p:cSld>
  <p:clrMapOvr>
    <a:masterClrMapping/>
  </p:clrMapOvr>
  <p:transition spd="fast">
    <p:fade/>
  </p:transition>
  <p:timing>
    <p:tnLst>
      <p:par>
        <p:cTn id="1" dur="indefinite" restart="never" nodeType="tmRoot">
          <p:childTnLst>
            <p:seq concurrent="1" nextAc="seek">
              <p:cTn id="2" dur="indefinite" nodeType="mainSeq">
                <p:childTnLst>
                  <p:par>
                    <p:cTn id="39" fill="hold">
                      <p:stCondLst>
                        <p:cond delay="indefinite"/>
                      </p:stCondLst>
                      <p:childTnLst>
                        <p:par>
                          <p:cTn id="40" fill="hold">
                            <p:stCondLst>
                              <p:cond delay="0"/>
                            </p:stCondLst>
                            <p:childTnLst>
                              <p:par>
                                <p:cTn id="3" presetID="10" presetClass="entr" presetSubtype="0" grpId="0" fill="hold" nodeType="click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125"/>
                                        <p:tgtEl>
                                          <p:spTgt spid="2"/>
                                        </p:tgtEl>
                                      </p:cBhvr>
                                    </p:animEffect>
                                  </p:childTnLst>
                                </p:cTn>
                              </p:par>
                              <p:par>
                                <p:cTn id="6" presetID="10" presetClass="entr" presetSubtype="0" grpId="0" fill="hold" nodeType="withEffect">
                                  <p:stCondLst>
                                    <p:cond delay="36"/>
                                  </p:stCondLst>
                                  <p:childTnLst>
                                    <p:set>
                                      <p:cBhvr>
                                        <p:cTn id="7" dur="1" fill="hold">
                                          <p:stCondLst>
                                            <p:cond delay="0"/>
                                          </p:stCondLst>
                                        </p:cTn>
                                        <p:tgtEl>
                                          <p:spTgt spid="4"/>
                                        </p:tgtEl>
                                        <p:attrNameLst>
                                          <p:attrName>style.visibility</p:attrName>
                                        </p:attrNameLst>
                                      </p:cBhvr>
                                      <p:to>
                                        <p:strVal val="visible"/>
                                      </p:to>
                                    </p:set>
                                    <p:animEffect transition="in" filter="fade">
                                      <p:cBhvr>
                                        <p:cTn id="8" dur="125"/>
                                        <p:tgtEl>
                                          <p:spTgt spid="4"/>
                                        </p:tgtEl>
                                      </p:cBhvr>
                                    </p:animEffect>
                                  </p:childTnLst>
                                </p:cTn>
                              </p:par>
                              <p:par>
                                <p:cTn id="9" presetID="10" presetClass="entr" presetSubtype="0" grpId="0" fill="hold" nodeType="withEffect">
                                  <p:stCondLst>
                                    <p:cond delay="36"/>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125"/>
                                        <p:tgtEl>
                                          <p:spTgt spid="5"/>
                                        </p:tgtEl>
                                      </p:cBhvr>
                                    </p:animEffect>
                                  </p:childTnLst>
                                </p:cTn>
                              </p:par>
                              <p:par>
                                <p:cTn id="12" presetID="10" presetClass="entr" presetSubtype="0" fill="hold" nodeType="withEffect">
                                  <p:stCondLst>
                                    <p:cond delay="36"/>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25"/>
                                        <p:tgtEl>
                                          <p:spTgt spid="6"/>
                                        </p:tgtEl>
                                      </p:cBhvr>
                                    </p:animEffect>
                                  </p:childTnLst>
                                </p:cTn>
                              </p:par>
                              <p:par>
                                <p:cTn id="15" presetID="10" presetClass="entr" presetSubtype="0" grpId="0" fill="hold" nodeType="withEffect">
                                  <p:stCondLst>
                                    <p:cond delay="108"/>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125"/>
                                        <p:tgtEl>
                                          <p:spTgt spid="7"/>
                                        </p:tgtEl>
                                      </p:cBhvr>
                                    </p:animEffect>
                                  </p:childTnLst>
                                </p:cTn>
                              </p:par>
                              <p:par>
                                <p:cTn id="18" presetID="10" presetClass="entr" presetSubtype="0" grpId="0" fill="hold" nodeType="withEffect">
                                  <p:stCondLst>
                                    <p:cond delay="108"/>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125"/>
                                        <p:tgtEl>
                                          <p:spTgt spid="8"/>
                                        </p:tgtEl>
                                      </p:cBhvr>
                                    </p:animEffect>
                                  </p:childTnLst>
                                </p:cTn>
                              </p:par>
                              <p:par>
                                <p:cTn id="21" presetID="10" presetClass="entr" presetSubtype="0" grpId="0" fill="hold" nodeType="withEffect">
                                  <p:stCondLst>
                                    <p:cond delay="108"/>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125"/>
                                        <p:tgtEl>
                                          <p:spTgt spid="9"/>
                                        </p:tgtEl>
                                      </p:cBhvr>
                                    </p:animEffect>
                                  </p:childTnLst>
                                </p:cTn>
                              </p:par>
                              <p:par>
                                <p:cTn id="24" presetID="10" presetClass="entr" presetSubtype="0" grpId="0" fill="hold" nodeType="withEffect">
                                  <p:stCondLst>
                                    <p:cond delay="108"/>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125"/>
                                        <p:tgtEl>
                                          <p:spTgt spid="10"/>
                                        </p:tgtEl>
                                      </p:cBhvr>
                                    </p:animEffect>
                                  </p:childTnLst>
                                </p:cTn>
                              </p:par>
                              <p:par>
                                <p:cTn id="27" presetID="10" presetClass="entr" presetSubtype="0" grpId="0" fill="hold" nodeType="withEffect">
                                  <p:stCondLst>
                                    <p:cond delay="18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125"/>
                                        <p:tgtEl>
                                          <p:spTgt spid="11"/>
                                        </p:tgtEl>
                                      </p:cBhvr>
                                    </p:animEffect>
                                  </p:childTnLst>
                                </p:cTn>
                              </p:par>
                              <p:par>
                                <p:cTn id="30" presetID="10" presetClass="entr" presetSubtype="0" grpId="0" fill="hold" nodeType="withEffect">
                                  <p:stCondLst>
                                    <p:cond delay="18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125"/>
                                        <p:tgtEl>
                                          <p:spTgt spid="12"/>
                                        </p:tgtEl>
                                      </p:cBhvr>
                                    </p:animEffect>
                                  </p:childTnLst>
                                </p:cTn>
                              </p:par>
                              <p:par>
                                <p:cTn id="33" presetID="10" presetClass="entr" presetSubtype="0" grpId="0" fill="hold" nodeType="withEffect">
                                  <p:stCondLst>
                                    <p:cond delay="18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125"/>
                                        <p:tgtEl>
                                          <p:spTgt spid="13"/>
                                        </p:tgtEl>
                                      </p:cBhvr>
                                    </p:animEffect>
                                  </p:childTnLst>
                                </p:cTn>
                              </p:par>
                              <p:par>
                                <p:cTn id="36" presetID="10" presetClass="entr" presetSubtype="0" grpId="0" fill="hold" nodeType="withEffect">
                                  <p:stCondLst>
                                    <p:cond delay="18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125"/>
                                        <p:tgtEl>
                                          <p:spTgt spid="14"/>
                                        </p:tgtEl>
                                      </p:cBhvr>
                                    </p:animEffect>
                                  </p:childTnLst>
                                </p:cTn>
                              </p:par>
                            </p:childTnLst>
                          </p:cTn>
                        </p:par>
                      </p:childTnLst>
                    </p:cTn>
                  </p:par>
                  <p:par>
                    <p:cTn id="68" fill="hold">
                      <p:stCondLst>
                        <p:cond delay="indefinite"/>
                      </p:stCondLst>
                      <p:childTnLst>
                        <p:par>
                          <p:cTn id="69" fill="hold">
                            <p:stCondLst>
                              <p:cond delay="0"/>
                            </p:stCondLst>
                            <p:childTnLst>
                              <p:par>
                                <p:cTn id="41" presetID="10" presetClass="entr" presetSubtype="0" grpId="0" fill="hold" nodeType="click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125"/>
                                        <p:tgtEl>
                                          <p:spTgt spid="15"/>
                                        </p:tgtEl>
                                      </p:cBhvr>
                                    </p:animEffect>
                                  </p:childTnLst>
                                </p:cTn>
                              </p:par>
                              <p:par>
                                <p:cTn id="44" presetID="10" presetClass="entr" presetSubtype="0" grpId="0" fill="hold" nodeType="with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125"/>
                                        <p:tgtEl>
                                          <p:spTgt spid="16"/>
                                        </p:tgtEl>
                                      </p:cBhvr>
                                    </p:animEffect>
                                  </p:childTnLst>
                                </p:cTn>
                              </p:par>
                              <p:par>
                                <p:cTn id="47" presetID="10" presetClass="entr" presetSubtype="0" fill="hold" nodeType="with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125"/>
                                        <p:tgtEl>
                                          <p:spTgt spid="17"/>
                                        </p:tgtEl>
                                      </p:cBhvr>
                                    </p:animEffect>
                                  </p:childTnLst>
                                </p:cTn>
                              </p:par>
                              <p:par>
                                <p:cTn id="50" presetID="10" presetClass="entr" presetSubtype="0" grpId="0" fill="hold" nodeType="withEffect">
                                  <p:stCondLst>
                                    <p:cond delay="72"/>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125"/>
                                        <p:tgtEl>
                                          <p:spTgt spid="18"/>
                                        </p:tgtEl>
                                      </p:cBhvr>
                                    </p:animEffect>
                                  </p:childTnLst>
                                </p:cTn>
                              </p:par>
                              <p:par>
                                <p:cTn id="53" presetID="10" presetClass="entr" presetSubtype="0" grpId="0" fill="hold" nodeType="withEffect">
                                  <p:stCondLst>
                                    <p:cond delay="72"/>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125"/>
                                        <p:tgtEl>
                                          <p:spTgt spid="19"/>
                                        </p:tgtEl>
                                      </p:cBhvr>
                                    </p:animEffect>
                                  </p:childTnLst>
                                </p:cTn>
                              </p:par>
                              <p:par>
                                <p:cTn id="56" presetID="10" presetClass="entr" presetSubtype="0" fill="hold" nodeType="withEffect">
                                  <p:stCondLst>
                                    <p:cond delay="72"/>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125"/>
                                        <p:tgtEl>
                                          <p:spTgt spid="20"/>
                                        </p:tgtEl>
                                      </p:cBhvr>
                                    </p:animEffect>
                                  </p:childTnLst>
                                </p:cTn>
                              </p:par>
                              <p:par>
                                <p:cTn id="59" presetID="10" presetClass="entr" presetSubtype="0" grpId="0" fill="hold" nodeType="withEffect">
                                  <p:stCondLst>
                                    <p:cond delay="144"/>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125"/>
                                        <p:tgtEl>
                                          <p:spTgt spid="21"/>
                                        </p:tgtEl>
                                      </p:cBhvr>
                                    </p:animEffect>
                                  </p:childTnLst>
                                </p:cTn>
                              </p:par>
                              <p:par>
                                <p:cTn id="62" presetID="10" presetClass="entr" presetSubtype="0" grpId="0" fill="hold" nodeType="withEffect">
                                  <p:stCondLst>
                                    <p:cond delay="144"/>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125"/>
                                        <p:tgtEl>
                                          <p:spTgt spid="22"/>
                                        </p:tgtEl>
                                      </p:cBhvr>
                                    </p:animEffect>
                                  </p:childTnLst>
                                </p:cTn>
                              </p:par>
                              <p:par>
                                <p:cTn id="65" presetID="10" presetClass="entr" presetSubtype="0" fill="hold" nodeType="withEffect">
                                  <p:stCondLst>
                                    <p:cond delay="144"/>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125"/>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animBg="1"/>
      <p:bldP spid="5" grpId="0"/>
      <p:bldP spid="7" grpId="0" animBg="1"/>
      <p:bldP spid="8" grpId="0"/>
      <p:bldP spid="9" grpId="0"/>
      <p:bldP spid="10" grpId="0"/>
      <p:bldP spid="11" grpId="0" animBg="1"/>
      <p:bldP spid="12" grpId="0"/>
      <p:bldP spid="13" grpId="0"/>
      <p:bldP spid="14" grpId="0"/>
      <p:bldP spid="15" grpId="0" animBg="1"/>
      <p:bldP spid="16" grpId="0"/>
      <p:bldP spid="18" grpId="0" animBg="1"/>
      <p:bldP spid="19" grpId="0"/>
      <p:bldP spid="21" grpId="0" animBg="1"/>
      <p:bldP spid="22" grpId="0"/>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DF0F8"/>
        </a:solidFill>
      </p:bgPr>
    </p:bg>
    <p:spTree>
      <p:nvGrpSpPr>
        <p:cNvPr id="1" name=""/>
        <p:cNvGrpSpPr/>
        <p:nvPr/>
      </p:nvGrpSpPr>
      <p:grpSpPr>
        <a:xfrm>
          <a:off x="0" y="0"/>
          <a:ext cx="0" cy="0"/>
          <a:chOff x="0" y="0"/>
          <a:chExt cx="0" cy="0"/>
        </a:xfrm>
      </p:grpSpPr>
      <p:pic>
        <p:nvPicPr>
          <p:cNvPr id="2" name="logo|143" descr="Logo de Liverpool">    </p:cNvPr>
          <p:cNvPicPr>
            <a:picLocks noChangeAspect="1"/>
          </p:cNvPicPr>
          <p:nvPr/>
        </p:nvPicPr>
        <p:blipFill>
          <a:blip r:embed="rId1"/>
          <a:stretch>
            <a:fillRect/>
          </a:stretch>
        </p:blipFill>
        <p:spPr>
          <a:xfrm>
            <a:off x="731520" y="502920"/>
            <a:ext cx="2194560" cy="556605"/>
          </a:xfrm>
          <a:prstGeom prst="rect">
            <a:avLst/>
          </a:prstGeom>
        </p:spPr>
      </p:pic>
      <p:sp>
        <p:nvSpPr>
          <p:cNvPr id="3" name="c1|144"/>
          <p:cNvSpPr txBox="1"/>
          <p:nvPr/>
        </p:nvSpPr>
        <p:spPr>
          <a:xfrm>
            <a:off x="731520" y="1417320"/>
            <a:ext cx="6035040" cy="640080"/>
          </a:xfrm>
          <a:prstGeom prst="rect">
            <a:avLst/>
          </a:prstGeom>
          <a:noFill/>
          <a:ln/>
        </p:spPr>
        <p:txBody>
          <a:bodyPr wrap="square" lIns="0" tIns="0" rIns="0" bIns="0" rtlCol="0" anchor="t"/>
          <a:lstStyle/>
          <a:p>
            <a:pPr indent="0" marL="0">
              <a:buNone/>
            </a:pPr>
            <a:r>
              <a:rPr lang="en-US" sz="3000" dirty="0">
                <a:solidFill>
                  <a:srgbClr val="000000"/>
                </a:solidFill>
                <a:latin typeface="Arial" pitchFamily="34" charset="0"/>
                <a:ea typeface="Arial" pitchFamily="34" charset="-122"/>
                <a:cs typeface="Arial" pitchFamily="34" charset="-120"/>
              </a:rPr>
              <a:t>Por eso creamos</a:t>
            </a:r>
            <a:endParaRPr lang="en-US" sz="3000" dirty="0"/>
          </a:p>
        </p:txBody>
      </p:sp>
      <p:sp>
        <p:nvSpPr>
          <p:cNvPr id="4" name="c1|145"/>
          <p:cNvSpPr txBox="1"/>
          <p:nvPr/>
        </p:nvSpPr>
        <p:spPr>
          <a:xfrm>
            <a:off x="731520" y="2011680"/>
            <a:ext cx="6217920" cy="2377440"/>
          </a:xfrm>
          <a:prstGeom prst="rect">
            <a:avLst/>
          </a:prstGeom>
          <a:noFill/>
          <a:ln/>
        </p:spPr>
        <p:txBody>
          <a:bodyPr wrap="square" lIns="0" tIns="0" rIns="0" bIns="0" rtlCol="0" anchor="t"/>
          <a:lstStyle/>
          <a:p>
            <a:pPr indent="0" marL="0">
              <a:buNone/>
            </a:pPr>
            <a:r>
              <a:rPr lang="en-US" sz="7200" b="1" dirty="0">
                <a:solidFill>
                  <a:srgbClr val="E10098"/>
                </a:solidFill>
                <a:latin typeface="Arial" pitchFamily="34" charset="0"/>
                <a:ea typeface="Arial" pitchFamily="34" charset="-122"/>
                <a:cs typeface="Arial" pitchFamily="34" charset="-120"/>
              </a:rPr>
              <a:t>Liver</a:t>
            </a:r>
            <a:endParaRPr lang="en-US" sz="7200" dirty="0"/>
          </a:p>
          <a:p>
            <a:pPr indent="0" marL="0">
              <a:buNone/>
            </a:pPr>
            <a:r>
              <a:rPr lang="en-US" sz="7200" b="1" dirty="0">
                <a:solidFill>
                  <a:srgbClr val="E10098"/>
                </a:solidFill>
                <a:latin typeface="Arial" pitchFamily="34" charset="0"/>
                <a:ea typeface="Arial" pitchFamily="34" charset="-122"/>
                <a:cs typeface="Arial" pitchFamily="34" charset="-120"/>
              </a:rPr>
              <a:t>Companion</a:t>
            </a:r>
            <a:endParaRPr lang="en-US" sz="7200" dirty="0"/>
          </a:p>
        </p:txBody>
      </p:sp>
      <p:sp>
        <p:nvSpPr>
          <p:cNvPr id="5" name="c2|146"/>
          <p:cNvSpPr txBox="1"/>
          <p:nvPr/>
        </p:nvSpPr>
        <p:spPr>
          <a:xfrm>
            <a:off x="731520" y="4526280"/>
            <a:ext cx="5852160" cy="822960"/>
          </a:xfrm>
          <a:prstGeom prst="rect">
            <a:avLst/>
          </a:prstGeom>
          <a:noFill/>
          <a:ln/>
        </p:spPr>
        <p:txBody>
          <a:bodyPr wrap="square" lIns="0" tIns="0" rIns="0" bIns="0" rtlCol="0" anchor="t"/>
          <a:lstStyle/>
          <a:p>
            <a:pPr indent="0" marL="0">
              <a:buNone/>
            </a:pPr>
            <a:r>
              <a:rPr lang="en-US" sz="2400" dirty="0">
                <a:solidFill>
                  <a:srgbClr val="000000"/>
                </a:solidFill>
                <a:latin typeface="Arial" pitchFamily="34" charset="0"/>
                <a:ea typeface="Arial" pitchFamily="34" charset="-122"/>
                <a:cs typeface="Arial" pitchFamily="34" charset="-120"/>
              </a:rPr>
              <a:t>para acompañar a nuestros colaboradores</a:t>
            </a:r>
            <a:endParaRPr lang="en-US" sz="2400" dirty="0"/>
          </a:p>
        </p:txBody>
      </p:sp>
      <p:sp>
        <p:nvSpPr>
          <p:cNvPr id="6" name="c3|147"/>
          <p:cNvSpPr txBox="1"/>
          <p:nvPr/>
        </p:nvSpPr>
        <p:spPr>
          <a:xfrm>
            <a:off x="731520" y="5349240"/>
            <a:ext cx="5852160" cy="914400"/>
          </a:xfrm>
          <a:prstGeom prst="rect">
            <a:avLst/>
          </a:prstGeom>
          <a:noFill/>
          <a:ln/>
        </p:spPr>
        <p:txBody>
          <a:bodyPr wrap="square" lIns="0" tIns="0" rIns="0" bIns="0" rtlCol="0" anchor="t"/>
          <a:lstStyle/>
          <a:p>
            <a:pPr indent="0" marL="0">
              <a:buNone/>
            </a:pPr>
            <a:r>
              <a:rPr lang="en-US" sz="2600" b="1" dirty="0">
                <a:solidFill>
                  <a:srgbClr val="A30071"/>
                </a:solidFill>
                <a:latin typeface="Arial" pitchFamily="34" charset="0"/>
                <a:ea typeface="Arial" pitchFamily="34" charset="-122"/>
                <a:cs typeface="Arial" pitchFamily="34" charset="-120"/>
              </a:rPr>
              <a:t>en todo lugar, todos los días,</a:t>
            </a:r>
            <a:endParaRPr lang="en-US" sz="2600" dirty="0"/>
          </a:p>
          <a:p>
            <a:pPr indent="0" marL="0">
              <a:buNone/>
            </a:pPr>
            <a:r>
              <a:rPr lang="en-US" sz="2600" b="1" dirty="0">
                <a:solidFill>
                  <a:srgbClr val="A30071"/>
                </a:solidFill>
                <a:latin typeface="Arial" pitchFamily="34" charset="0"/>
                <a:ea typeface="Arial" pitchFamily="34" charset="-122"/>
                <a:cs typeface="Arial" pitchFamily="34" charset="-120"/>
              </a:rPr>
              <a:t>toda la vida.</a:t>
            </a:r>
            <a:endParaRPr lang="en-US" sz="2600" dirty="0"/>
          </a:p>
        </p:txBody>
      </p:sp>
      <p:pic>
        <p:nvPicPr>
          <p:cNvPr id="7" name="img10|148" descr="Candidata sonriendo al recibir que su perfil avanzó a finalista">    </p:cNvPr>
          <p:cNvPicPr>
            <a:picLocks noChangeAspect="1"/>
          </p:cNvPicPr>
          <p:nvPr/>
        </p:nvPicPr>
        <p:blipFill>
          <a:blip r:embed="rId2"/>
          <a:stretch>
            <a:fillRect/>
          </a:stretch>
        </p:blipFill>
        <p:spPr>
          <a:xfrm>
            <a:off x="6675120" y="685800"/>
            <a:ext cx="5486400" cy="5486400"/>
          </a:xfrm>
          <a:prstGeom prst="rect">
            <a:avLst/>
          </a:prstGeom>
        </p:spPr>
      </p:pic>
      <p:sp>
        <p:nvSpPr>
          <p:cNvPr id="8" name="img10|149"/>
          <p:cNvSpPr txBox="1"/>
          <p:nvPr/>
        </p:nvSpPr>
        <p:spPr>
          <a:xfrm>
            <a:off x="6675120" y="6217920"/>
            <a:ext cx="5486400" cy="228600"/>
          </a:xfrm>
          <a:prstGeom prst="rect">
            <a:avLst/>
          </a:prstGeom>
          <a:noFill/>
          <a:ln/>
        </p:spPr>
        <p:txBody>
          <a:bodyPr wrap="square" lIns="0" tIns="0" rIns="0" bIns="0" rtlCol="0" anchor="t"/>
          <a:lstStyle/>
          <a:p>
            <a:pPr algn="r" indent="0" marL="0">
              <a:buNone/>
            </a:pPr>
            <a:r>
              <a:rPr lang="en-US" sz="900" dirty="0">
                <a:solidFill>
                  <a:srgbClr val="8C8C8C"/>
                </a:solidFill>
                <a:latin typeface="Arial" pitchFamily="34" charset="0"/>
                <a:ea typeface="Arial" pitchFamily="34" charset="-122"/>
                <a:cs typeface="Arial" pitchFamily="34" charset="-120"/>
              </a:rPr>
              <a:t>Foto: Brooke Cagle / Unsplash</a:t>
            </a:r>
            <a:endParaRPr lang="en-US" sz="900" dirty="0"/>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grpId="0" fill="hold" nodeType="click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175"/>
                                        <p:tgtEl>
                                          <p:spTgt spid="3"/>
                                        </p:tgtEl>
                                      </p:cBhvr>
                                    </p:animEffect>
                                  </p:childTnLst>
                                </p:cTn>
                              </p:par>
                              <p:par>
                                <p:cTn id="6" presetID="10" presetClass="entr" presetSubtype="0" grpId="0" fill="hold" nodeType="withEffect">
                                  <p:stCondLst>
                                    <p:cond delay="0"/>
                                  </p:stCondLst>
                                  <p:childTnLst>
                                    <p:set>
                                      <p:cBhvr>
                                        <p:cTn id="7" dur="1" fill="hold">
                                          <p:stCondLst>
                                            <p:cond delay="0"/>
                                          </p:stCondLst>
                                        </p:cTn>
                                        <p:tgtEl>
                                          <p:spTgt spid="4"/>
                                        </p:tgtEl>
                                        <p:attrNameLst>
                                          <p:attrName>style.visibility</p:attrName>
                                        </p:attrNameLst>
                                      </p:cBhvr>
                                      <p:to>
                                        <p:strVal val="visible"/>
                                      </p:to>
                                    </p:set>
                                    <p:animEffect transition="in" filter="fade">
                                      <p:cBhvr>
                                        <p:cTn id="8" dur="175"/>
                                        <p:tgtEl>
                                          <p:spTgt spid="4"/>
                                        </p:tgtEl>
                                      </p:cBhvr>
                                    </p:animEffect>
                                  </p:childTnLst>
                                </p:cTn>
                              </p:par>
                            </p:childTnLst>
                          </p:cTn>
                        </p:par>
                      </p:childTnLst>
                    </p:cTn>
                  </p:par>
                  <p:par>
                    <p:cTn id="23" fill="hold">
                      <p:stCondLst>
                        <p:cond delay="indefinite"/>
                      </p:stCondLst>
                      <p:childTnLst>
                        <p:par>
                          <p:cTn id="24" fill="hold">
                            <p:stCondLst>
                              <p:cond delay="0"/>
                            </p:stCondLst>
                            <p:childTnLst>
                              <p:par>
                                <p:cTn id="11" presetID="10" presetClass="entr" presetSubtype="0" grpId="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150"/>
                                        <p:tgtEl>
                                          <p:spTgt spid="5"/>
                                        </p:tgtEl>
                                      </p:cBhvr>
                                    </p:animEffect>
                                  </p:childTnLst>
                                </p:cTn>
                              </p:par>
                              <p:par>
                                <p:cTn id="14" presetID="22" presetClass="entr" presetSubtype="8" grpId="0" fill="hold" nodeType="withEffect">
                                  <p:stCondLst>
                                    <p:cond delay="60"/>
                                  </p:stCondLst>
                                  <p:childTnLst>
                                    <p:set>
                                      <p:cBhvr>
                                        <p:cTn id="15" dur="1" fill="hold">
                                          <p:stCondLst>
                                            <p:cond delay="0"/>
                                          </p:stCondLst>
                                        </p:cTn>
                                        <p:tgtEl>
                                          <p:spTgt spid="6"/>
                                        </p:tgtEl>
                                        <p:attrNameLst>
                                          <p:attrName>style.visibility</p:attrName>
                                        </p:attrNameLst>
                                      </p:cBhvr>
                                      <p:to>
                                        <p:strVal val="visible"/>
                                      </p:to>
                                    </p:set>
                                    <p:animEffect transition="in" filter="wipe(left)">
                                      <p:cBhvr>
                                        <p:cTn id="16" dur="180"/>
                                        <p:tgtEl>
                                          <p:spTgt spid="6"/>
                                        </p:tgtEl>
                                      </p:cBhvr>
                                    </p:animEffect>
                                  </p:childTnLst>
                                </p:cTn>
                              </p:par>
                              <p:par>
                                <p:cTn id="17" presetID="10" presetClass="entr" presetSubtype="0" fill="hold" nodeType="withEffect">
                                  <p:stCondLst>
                                    <p:cond delay="36"/>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180"/>
                                        <p:tgtEl>
                                          <p:spTgt spid="7"/>
                                        </p:tgtEl>
                                      </p:cBhvr>
                                    </p:animEffect>
                                  </p:childTnLst>
                                </p:cTn>
                              </p:par>
                              <p:par>
                                <p:cTn id="20" presetID="10" presetClass="entr" presetSubtype="0" grpId="0" fill="hold" nodeType="withEffect">
                                  <p:stCondLst>
                                    <p:cond delay="36"/>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18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8"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Liver Companion — Pitch</dc:title>
  <dc:subject>PptxGenJS Presentation</dc:subject>
  <dc:creator>Equipo Liver Companion</dc:creator>
  <cp:lastModifiedBy>Equipo Liver Companion</cp:lastModifiedBy>
  <cp:revision>1</cp:revision>
  <dcterms:created xsi:type="dcterms:W3CDTF">2026-09-24T16:50:30Z</dcterms:created>
  <dcterms:modified xsi:type="dcterms:W3CDTF">2026-09-24T16:50:30Z</dcterms:modified>
</cp:coreProperties>
</file>